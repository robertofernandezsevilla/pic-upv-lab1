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95" r:id="rId3"/>
    <p:sldId id="290" r:id="rId4"/>
    <p:sldId id="292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9" r:id="rId15"/>
    <p:sldId id="310" r:id="rId16"/>
    <p:sldId id="311" r:id="rId17"/>
    <p:sldId id="288" r:id="rId1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3A380-F68D-4B97-8CF0-04FACEB71A64}" v="8" dt="2026-02-16T10:00:04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0" autoAdjust="0"/>
    <p:restoredTop sz="95033" autoAdjust="0"/>
  </p:normalViewPr>
  <p:slideViewPr>
    <p:cSldViewPr>
      <p:cViewPr varScale="1">
        <p:scale>
          <a:sx n="83" d="100"/>
          <a:sy n="83" d="100"/>
        </p:scale>
        <p:origin x="811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custSel addSld delSld modSld">
      <pc:chgData name="Christian Camilo Cano Vasquez" userId="8c73a2a4-758b-4e34-81ed-39462e48bd92" providerId="ADAL" clId="{E6287060-0277-4BCC-9556-78F4A9113EC4}" dt="2026-02-16T10:00:04.333" v="112"/>
      <pc:docMkLst>
        <pc:docMk/>
      </pc:docMkLst>
      <pc:sldChg chg="addSp delSp modSp mod">
        <pc:chgData name="Christian Camilo Cano Vasquez" userId="8c73a2a4-758b-4e34-81ed-39462e48bd92" providerId="ADAL" clId="{E6287060-0277-4BCC-9556-78F4A9113EC4}" dt="2026-02-16T09:54:36.314" v="109" actId="20577"/>
        <pc:sldMkLst>
          <pc:docMk/>
          <pc:sldMk cId="730501311" sldId="290"/>
        </pc:sldMkLst>
        <pc:spChg chg="add mod">
          <ac:chgData name="Christian Camilo Cano Vasquez" userId="8c73a2a4-758b-4e34-81ed-39462e48bd92" providerId="ADAL" clId="{E6287060-0277-4BCC-9556-78F4A9113EC4}" dt="2026-02-16T09:48:48.742" v="10" actId="1076"/>
          <ac:spMkLst>
            <pc:docMk/>
            <pc:sldMk cId="730501311" sldId="290"/>
            <ac:spMk id="2" creationId="{029F2FF9-FEB4-7AA3-B3B4-EFA9CFA0E230}"/>
          </ac:spMkLst>
        </pc:spChg>
        <pc:spChg chg="add mod">
          <ac:chgData name="Christian Camilo Cano Vasquez" userId="8c73a2a4-758b-4e34-81ed-39462e48bd92" providerId="ADAL" clId="{E6287060-0277-4BCC-9556-78F4A9113EC4}" dt="2026-02-16T09:49:37.395" v="33" actId="20577"/>
          <ac:spMkLst>
            <pc:docMk/>
            <pc:sldMk cId="730501311" sldId="290"/>
            <ac:spMk id="4" creationId="{C2C94B57-6111-4070-F6BA-8C3B9C305618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7" creationId="{F917B3AA-589C-A90A-EE95-EE60C6D04663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9" creationId="{793F5757-34AB-6F24-0981-9F1F15A0ADF8}"/>
          </ac:spMkLst>
        </pc:spChg>
        <pc:spChg chg="del">
          <ac:chgData name="Christian Camilo Cano Vasquez" userId="8c73a2a4-758b-4e34-81ed-39462e48bd92" providerId="ADAL" clId="{E6287060-0277-4BCC-9556-78F4A9113EC4}" dt="2026-02-16T09:48:35.096" v="6" actId="478"/>
          <ac:spMkLst>
            <pc:docMk/>
            <pc:sldMk cId="730501311" sldId="290"/>
            <ac:spMk id="11" creationId="{8BD4C233-B5D9-B6AA-93A8-CF2F130CFF9C}"/>
          </ac:spMkLst>
        </pc:spChg>
        <pc:spChg chg="mod">
          <ac:chgData name="Christian Camilo Cano Vasquez" userId="8c73a2a4-758b-4e34-81ed-39462e48bd92" providerId="ADAL" clId="{E6287060-0277-4BCC-9556-78F4A9113EC4}" dt="2026-02-16T09:54:36.314" v="109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4:44.707" v="111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E6287060-0277-4BCC-9556-78F4A9113EC4}" dt="2026-02-16T09:51:39.768" v="80" actId="313"/>
          <ac:spMkLst>
            <pc:docMk/>
            <pc:sldMk cId="2900117438" sldId="292"/>
            <ac:spMk id="2" creationId="{82A62DD6-5488-72A1-9926-0CAEE59089A9}"/>
          </ac:spMkLst>
        </pc:spChg>
        <pc:spChg chg="mod">
          <ac:chgData name="Christian Camilo Cano Vasquez" userId="8c73a2a4-758b-4e34-81ed-39462e48bd92" providerId="ADAL" clId="{E6287060-0277-4BCC-9556-78F4A9113EC4}" dt="2026-02-16T09:54:44.707" v="111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0:51.822" v="37" actId="20577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16T09:45:25.127" v="4" actId="115"/>
          <ac:spMkLst>
            <pc:docMk/>
            <pc:sldMk cId="3660438245" sldId="293"/>
            <ac:spMk id="2" creationId="{FDE3A197-9508-F9F1-1FEB-FF883D78C151}"/>
          </ac:spMkLst>
        </pc:spChg>
        <pc:spChg chg="mod">
          <ac:chgData name="Christian Camilo Cano Vasquez" userId="8c73a2a4-758b-4e34-81ed-39462e48bd92" providerId="ADAL" clId="{E6287060-0277-4BCC-9556-78F4A9113EC4}" dt="2026-02-16T09:50:51.822" v="37" actId="20577"/>
          <ac:spMkLst>
            <pc:docMk/>
            <pc:sldMk cId="3660438245" sldId="293"/>
            <ac:spMk id="16" creationId="{742C31CE-19F0-B995-0997-9A2D6A879BF7}"/>
          </ac:spMkLst>
        </pc:spChg>
      </pc:sldChg>
      <pc:sldChg chg="modSp mod">
        <pc:chgData name="Christian Camilo Cano Vasquez" userId="8c73a2a4-758b-4e34-81ed-39462e48bd92" providerId="ADAL" clId="{E6287060-0277-4BCC-9556-78F4A9113EC4}" dt="2026-02-16T10:00:04.333" v="112"/>
        <pc:sldMkLst>
          <pc:docMk/>
          <pc:sldMk cId="473922805" sldId="295"/>
        </pc:sldMkLst>
        <pc:spChg chg="mod">
          <ac:chgData name="Christian Camilo Cano Vasquez" userId="8c73a2a4-758b-4e34-81ed-39462e48bd92" providerId="ADAL" clId="{E6287060-0277-4BCC-9556-78F4A9113EC4}" dt="2026-02-16T10:00:04.333" v="112"/>
          <ac:spMkLst>
            <pc:docMk/>
            <pc:sldMk cId="473922805" sldId="295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16T09:50:39.931" v="34" actId="47"/>
        <pc:sldMkLst>
          <pc:docMk/>
          <pc:sldMk cId="1245186850" sldId="296"/>
        </pc:sldMkLst>
      </pc:sldChg>
      <pc:sldChg chg="modSp add del">
        <pc:chgData name="Christian Camilo Cano Vasquez" userId="8c73a2a4-758b-4e34-81ed-39462e48bd92" providerId="ADAL" clId="{E6287060-0277-4BCC-9556-78F4A9113EC4}" dt="2026-02-16T09:50:57.288" v="39" actId="20577"/>
        <pc:sldMkLst>
          <pc:docMk/>
          <pc:sldMk cId="236054401" sldId="297"/>
        </pc:sldMkLst>
        <pc:spChg chg="mod">
          <ac:chgData name="Christian Camilo Cano Vasquez" userId="8c73a2a4-758b-4e34-81ed-39462e48bd92" providerId="ADAL" clId="{E6287060-0277-4BCC-9556-78F4A9113EC4}" dt="2026-02-16T09:50:57.288" v="39" actId="20577"/>
          <ac:spMkLst>
            <pc:docMk/>
            <pc:sldMk cId="236054401" sldId="297"/>
            <ac:spMk id="16" creationId="{394400B4-EE16-8E85-AB54-E82FE3B293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58C8-CAB7-C8AB-CC83-595D3D6D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A5EF5A-AF11-2A68-9ABC-ACA76E589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39FCB3-3383-75C8-4948-C3EA7CD1C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A78765-2D39-C272-1F08-9F81AD0EE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252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A4581-7797-447B-8842-9A6B15F8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CA83DE-9937-842B-C622-7C36624BD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C9D2A4-E73D-AB77-A220-A3ECFF40C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CC59F5-34AD-00BC-43DB-F023D26C5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9298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55FF-C778-E8C8-EE36-D2903539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F52381-FA83-A39D-7A77-94514486A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A6369A-4D10-A442-4BC6-5878B20E0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AFD09-C903-E201-0165-DE1847C3D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999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A06A-F59E-59B7-FDC8-F5D2B7D3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C10A395-8DEB-5510-1A90-FEBA9FD1B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70531E-E457-C1D3-A0B5-59F40E35A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2B3746-A6A2-A16D-A2AB-C6BDF21A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407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CA0-A666-87AB-7FBC-2D11F76E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359E29-8ED2-CB3A-3CDD-69881A908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7C5315-709B-BB9F-FE89-B47D1C582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FE6BB9-E1AD-0FCA-7FD7-0EBAD262F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7116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9789-DBBE-1F54-D5C7-A8A4A10B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FFD6C1-3108-2CC2-A590-E4E80C869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2BCD62-AE7C-C38F-39AF-E8955E6FB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C0A3E7-1CAC-011A-B4EC-E2FBA85D1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4005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EBC0B-8B86-32AE-E25D-AF2B749D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E0244A-F55A-26D1-ADF4-5EB1EEBA1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AE108A-39CE-7516-99F1-3EAA72362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05BF7D-E86C-BD3E-33FF-ADE59ED64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0695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1AC6-3391-EBBB-15F3-52CF04CC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BBD4C4-BF60-0877-5247-6332206C1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53BBE7-A9C2-8007-9CE8-A444FA5C5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63084A-31DF-8BA6-B653-A0AB2F1C7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33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6A55-A169-D715-4D64-24443AE3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187BC9-3CC4-180E-1C42-04C7D4520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EC5B81-8D1B-B942-F0AC-A1BAB8687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59D3E0-3409-006A-CF25-28D390727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8141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F4CF-A52D-6BCA-81BF-9606CD18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6C075C-C8C3-77D4-B4D8-8E635F238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A50DC8-CAFE-74A4-20FD-ACCC59C0F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4C3599-E016-A34B-9260-48B5A8C0C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383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3339-923D-7380-9863-2B734607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13A8DC-FF50-827D-B136-809A433B0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F2EAFB-5706-C483-FAA1-8DF9EE145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0EA8A3-43A6-1DE0-D7E5-000001614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9202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45BC-A806-9C4D-A95E-6E2E6C2F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92DDC3-B0FA-766E-56E1-C1DF3FA04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638E00-2DAD-F2B2-18EB-14AB4D115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7806A0-C6B2-93E9-EBFF-182C7F81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4681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Roberto Fernández Sevilla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60334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Cogeremos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20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grid_resolution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1.5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max_grid_scaling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conseguimos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real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reducimos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procesamiento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DE709C5-C821-64C7-A117-B2AF8C8D9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06" y="1575314"/>
            <a:ext cx="4379988" cy="3138554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CA50C33-FDA8-7D48-D49B-9C454D67A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795" y="1569783"/>
            <a:ext cx="4350017" cy="313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Conforme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ancho,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sentido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core. En un primer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primer modo TE,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primer modo TM. Contra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ancho,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comienza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TE, y al final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punto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BC0061E-9441-FD19-70EC-11358BAD0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777" y="1549823"/>
            <a:ext cx="5432446" cy="31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23DC-0B30-4893-E5E7-3C333FC2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1707BC50-15B7-C1CE-047D-D079BF514EB8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Deep Waveguide TE0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1707BC50-15B7-C1CE-047D-D079BF514EB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978F9B12-A935-7576-6729-F56DAF545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3216F80-73BF-31AD-F080-840CE3601B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EE3DD0-CB29-4E51-9518-C2F55DFA85D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A96A47C-95F2-05DF-CC26-8736DAB10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54767"/>
            <a:ext cx="4652268" cy="2455462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2B9F43B-A359-2213-0207-AFCCE07F2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1613950"/>
            <a:ext cx="3581400" cy="257590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EA3D7E7-3B16-C91E-8615-FA237F783940}"/>
              </a:ext>
            </a:extLst>
          </p:cNvPr>
          <p:cNvSpPr txBox="1"/>
          <p:nvPr/>
        </p:nvSpPr>
        <p:spPr>
          <a:xfrm>
            <a:off x="6496859" y="1373320"/>
            <a:ext cx="280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Second order polynomial </a:t>
            </a: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7DAAB5D-0B86-21EC-F9E3-E3F132692A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777905"/>
            <a:ext cx="9088118" cy="27626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9C35D4F-F771-9FA8-3C8E-7D0949B92A54}"/>
              </a:ext>
            </a:extLst>
          </p:cNvPr>
          <p:cNvSpPr txBox="1"/>
          <p:nvPr/>
        </p:nvSpPr>
        <p:spPr>
          <a:xfrm>
            <a:off x="3581400" y="4424667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8045169-0E1F-FC05-99FF-EF9475F10D81}"/>
                  </a:ext>
                </a:extLst>
              </p:cNvPr>
              <p:cNvSpPr txBox="1"/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8045169-0E1F-FC05-99FF-EF9475F10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blipFill>
                <a:blip r:embed="rId9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22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AB10-68A1-99E1-9456-C1E104322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1E96DEB-2E0E-FE4E-61B4-625582671BAA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Deep Waveguide TE0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1E96DEB-2E0E-FE4E-61B4-625582671BA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BEF29DA2-0472-0B18-FC7B-75F5D3062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1C5C9A1-8323-18A5-A48C-320FB72E90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6D82502-78F9-BFC9-5442-D146B421F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864803"/>
            <a:ext cx="9088118" cy="27626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2FB20C1-8391-8ABC-A1CA-15A01263C9DF}"/>
              </a:ext>
            </a:extLst>
          </p:cNvPr>
          <p:cNvSpPr txBox="1"/>
          <p:nvPr/>
        </p:nvSpPr>
        <p:spPr>
          <a:xfrm>
            <a:off x="3429000" y="1511565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CA3D770-E5AA-B98C-BAF6-195264C58881}"/>
                  </a:ext>
                </a:extLst>
              </p:cNvPr>
              <p:cNvSpPr txBox="1"/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CA3D770-E5AA-B98C-BAF6-195264C58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blipFill>
                <a:blip r:embed="rId7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BCB18073-2694-7EFB-F94E-E7ED32E6B3FD}"/>
              </a:ext>
            </a:extLst>
          </p:cNvPr>
          <p:cNvSpPr txBox="1"/>
          <p:nvPr/>
        </p:nvSpPr>
        <p:spPr>
          <a:xfrm>
            <a:off x="3203766" y="2471214"/>
            <a:ext cx="61283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término</a:t>
            </a:r>
            <a:r>
              <a:rPr lang="en-US" dirty="0"/>
              <a:t> n1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al </a:t>
            </a:r>
            <a:r>
              <a:rPr lang="en-US" dirty="0" err="1"/>
              <a:t>indice</a:t>
            </a:r>
            <a:r>
              <a:rPr lang="en-US" dirty="0"/>
              <a:t> </a:t>
            </a:r>
            <a:r>
              <a:rPr lang="en-US" dirty="0" err="1"/>
              <a:t>efectivo</a:t>
            </a:r>
            <a:r>
              <a:rPr lang="en-US" dirty="0"/>
              <a:t> de la </a:t>
            </a:r>
            <a:r>
              <a:rPr lang="en-US" dirty="0" err="1"/>
              <a:t>longiutd</a:t>
            </a:r>
            <a:r>
              <a:rPr lang="en-US" dirty="0"/>
              <a:t> de </a:t>
            </a:r>
            <a:r>
              <a:rPr lang="en-US" dirty="0" err="1"/>
              <a:t>onda</a:t>
            </a:r>
            <a:r>
              <a:rPr lang="en-US" dirty="0"/>
              <a:t> de 1550nm. </a:t>
            </a:r>
          </a:p>
          <a:p>
            <a:r>
              <a:rPr lang="en-US" dirty="0"/>
              <a:t>Por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término</a:t>
            </a:r>
            <a:r>
              <a:rPr lang="en-US" dirty="0"/>
              <a:t> n2,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dice </a:t>
            </a:r>
            <a:r>
              <a:rPr lang="en-US" dirty="0" err="1"/>
              <a:t>si</a:t>
            </a:r>
            <a:r>
              <a:rPr lang="en-US" dirty="0"/>
              <a:t> varia </a:t>
            </a:r>
            <a:r>
              <a:rPr lang="en-US" dirty="0" err="1"/>
              <a:t>más</a:t>
            </a:r>
            <a:r>
              <a:rPr lang="en-US" dirty="0"/>
              <a:t> o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índice</a:t>
            </a:r>
            <a:r>
              <a:rPr lang="en-US" dirty="0"/>
              <a:t> de </a:t>
            </a:r>
            <a:r>
              <a:rPr lang="en-US" dirty="0" err="1"/>
              <a:t>grupo</a:t>
            </a:r>
            <a:r>
              <a:rPr lang="en-US" dirty="0"/>
              <a:t>, y </a:t>
            </a:r>
            <a:r>
              <a:rPr lang="en-US" dirty="0" err="1"/>
              <a:t>por</a:t>
            </a:r>
            <a:r>
              <a:rPr lang="en-US" dirty="0"/>
              <a:t> tanto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o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retardo</a:t>
            </a:r>
            <a:r>
              <a:rPr lang="en-US" dirty="0"/>
              <a:t> de </a:t>
            </a:r>
            <a:r>
              <a:rPr lang="en-US" dirty="0" err="1"/>
              <a:t>grupo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última</a:t>
            </a:r>
            <a:r>
              <a:rPr lang="en-US" dirty="0"/>
              <a:t> </a:t>
            </a:r>
            <a:r>
              <a:rPr lang="en-US" dirty="0" err="1"/>
              <a:t>instancia</a:t>
            </a:r>
            <a:r>
              <a:rPr lang="en-US" dirty="0"/>
              <a:t>. </a:t>
            </a:r>
          </a:p>
          <a:p>
            <a:r>
              <a:rPr lang="en-US" dirty="0" err="1"/>
              <a:t>Respecto</a:t>
            </a:r>
            <a:r>
              <a:rPr lang="en-US" dirty="0"/>
              <a:t> al valor de </a:t>
            </a:r>
            <a:r>
              <a:rPr lang="en-US" dirty="0" err="1"/>
              <a:t>Dispersión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determinará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se </a:t>
            </a:r>
            <a:r>
              <a:rPr lang="en-US" dirty="0" err="1"/>
              <a:t>ensancha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pulso</a:t>
            </a:r>
            <a:r>
              <a:rPr lang="en-US" dirty="0"/>
              <a:t>, temenos un valor </a:t>
            </a:r>
            <a:r>
              <a:rPr lang="en-US" dirty="0" err="1"/>
              <a:t>más</a:t>
            </a:r>
            <a:r>
              <a:rPr lang="en-US" dirty="0"/>
              <a:t> bajo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modo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veremos</a:t>
            </a:r>
            <a:r>
              <a:rPr lang="en-US" dirty="0"/>
              <a:t>, TM0,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sufre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dispersión</a:t>
            </a:r>
            <a:r>
              <a:rPr lang="en-US" dirty="0"/>
              <a:t>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111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7E1A-9A0F-A222-A06F-BEFDA9BD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67515EB-A24D-5FAD-98A8-50400D406636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Deep Waveguide TM0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67515EB-A24D-5FAD-98A8-50400D40663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363FD700-299C-5934-FBD2-96A492B19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4CA1EF7-1BFF-74C9-702D-FF1E8F59F4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412FB5-CE29-88A3-F8CF-9DD2433D86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7E62B5-F6B9-8C2A-B75A-4B33F529235E}"/>
              </a:ext>
            </a:extLst>
          </p:cNvPr>
          <p:cNvSpPr txBox="1"/>
          <p:nvPr/>
        </p:nvSpPr>
        <p:spPr>
          <a:xfrm>
            <a:off x="6496859" y="1373320"/>
            <a:ext cx="280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Second order polynomial </a:t>
            </a: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0AF2A7C-1CCB-B8EC-8C50-8381F89F7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7697" y="4733483"/>
            <a:ext cx="7796605" cy="36285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F0F4B76-0A7E-0D9D-051E-48BAFA3283D8}"/>
              </a:ext>
            </a:extLst>
          </p:cNvPr>
          <p:cNvSpPr txBox="1"/>
          <p:nvPr/>
        </p:nvSpPr>
        <p:spPr>
          <a:xfrm>
            <a:off x="3581400" y="4424667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5485CC4-86DA-506E-192F-AE0B3BE5C716}"/>
                  </a:ext>
                </a:extLst>
              </p:cNvPr>
              <p:cNvSpPr txBox="1"/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5485CC4-86DA-506E-192F-AE0B3BE5C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blipFill>
                <a:blip r:embed="rId7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E977453-4A00-E98F-8174-0351E089BF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272" y="1780188"/>
            <a:ext cx="4467733" cy="2451930"/>
          </a:xfrm>
          <a:prstGeom prst="rect">
            <a:avLst/>
          </a:prstGeom>
        </p:spPr>
      </p:pic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9353EDC-651C-F6C2-5164-BAC6A5D79D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1751496"/>
            <a:ext cx="3727874" cy="268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8931-755E-14B5-C4B6-8E066E3B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5DCAE974-C8A2-DBD2-1AC5-9FA74611D8D7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Deep Waveguide TM0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5DCAE974-C8A2-DBD2-1AC5-9FA74611D8D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F83356DF-BFFB-DFC4-83DE-29C5C721C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B20AE06-F404-EAE4-D52F-955FA1A7DB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24B5328-8B45-A6BF-3FFF-9CFAED26B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903" y="1852061"/>
            <a:ext cx="9222093" cy="42919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260284A-DEED-4226-EAA3-79BE414FFD50}"/>
              </a:ext>
            </a:extLst>
          </p:cNvPr>
          <p:cNvSpPr txBox="1"/>
          <p:nvPr/>
        </p:nvSpPr>
        <p:spPr>
          <a:xfrm>
            <a:off x="3429000" y="1511565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A8A6274-F7AD-F0BC-9C5E-21A96D4032C8}"/>
                  </a:ext>
                </a:extLst>
              </p:cNvPr>
              <p:cNvSpPr txBox="1"/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A8A6274-F7AD-F0BC-9C5E-21A96D403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blipFill>
                <a:blip r:embed="rId7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125680E-B19F-8838-D4DE-E9445573FA2A}"/>
              </a:ext>
            </a:extLst>
          </p:cNvPr>
          <p:cNvSpPr txBox="1"/>
          <p:nvPr/>
        </p:nvSpPr>
        <p:spPr>
          <a:xfrm>
            <a:off x="3215641" y="2450922"/>
            <a:ext cx="61283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El </a:t>
            </a:r>
            <a:r>
              <a:rPr lang="en-US" b="0" dirty="0" err="1"/>
              <a:t>término</a:t>
            </a:r>
            <a:r>
              <a:rPr lang="en-US" b="0" dirty="0"/>
              <a:t> n1 </a:t>
            </a:r>
            <a:r>
              <a:rPr lang="en-US" b="0" dirty="0" err="1"/>
              <a:t>hace</a:t>
            </a:r>
            <a:r>
              <a:rPr lang="en-US" b="0" dirty="0"/>
              <a:t> </a:t>
            </a:r>
            <a:r>
              <a:rPr lang="en-US" b="0" dirty="0" err="1"/>
              <a:t>referencia</a:t>
            </a:r>
            <a:r>
              <a:rPr lang="en-US" b="0" dirty="0"/>
              <a:t> al </a:t>
            </a:r>
            <a:r>
              <a:rPr lang="en-US" b="0" dirty="0" err="1"/>
              <a:t>indice</a:t>
            </a:r>
            <a:r>
              <a:rPr lang="en-US" b="0" dirty="0"/>
              <a:t> </a:t>
            </a:r>
            <a:r>
              <a:rPr lang="en-US" b="0" dirty="0" err="1"/>
              <a:t>efectivo</a:t>
            </a:r>
            <a:r>
              <a:rPr lang="en-US" b="0" dirty="0"/>
              <a:t> de la </a:t>
            </a:r>
            <a:r>
              <a:rPr lang="en-US" b="0" dirty="0" err="1"/>
              <a:t>longiutd</a:t>
            </a:r>
            <a:r>
              <a:rPr lang="en-US" b="0" dirty="0"/>
              <a:t> de </a:t>
            </a:r>
            <a:r>
              <a:rPr lang="en-US" b="0" dirty="0" err="1"/>
              <a:t>onda</a:t>
            </a:r>
            <a:r>
              <a:rPr lang="en-US" b="0" dirty="0"/>
              <a:t> de 1550nm. </a:t>
            </a:r>
          </a:p>
          <a:p>
            <a:r>
              <a:rPr lang="en-US" dirty="0"/>
              <a:t>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ng </a:t>
            </a:r>
            <a:r>
              <a:rPr lang="en-US" dirty="0" err="1"/>
              <a:t>variará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al </a:t>
            </a:r>
            <a:r>
              <a:rPr lang="en-US" dirty="0" err="1"/>
              <a:t>tener</a:t>
            </a:r>
            <a:r>
              <a:rPr lang="en-US" dirty="0"/>
              <a:t> un valor </a:t>
            </a:r>
            <a:r>
              <a:rPr lang="en-US" dirty="0" err="1"/>
              <a:t>menor</a:t>
            </a:r>
            <a:r>
              <a:rPr lang="en-US" dirty="0"/>
              <a:t> de n2,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valor de n3 es mayor,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Dispersión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mayor.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683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DAC2-162A-F646-C573-A364DB79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9CBC11C-E1DA-E715-7DC7-8FACC0C24C40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Shallow Waveguide TE0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9CBC11C-E1DA-E715-7DC7-8FACC0C24C4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1756C3E4-086C-829B-EAC6-B613540B3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23837A0-A520-1EB2-F563-E6A9432BAE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8C769D-F68D-43E9-F782-DAC54CEB092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099588-7455-2EDD-8FC6-CFC6640E7167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D34ED1-4722-347C-C679-FCDCE13C4414}"/>
              </a:ext>
            </a:extLst>
          </p:cNvPr>
          <p:cNvSpPr txBox="1"/>
          <p:nvPr/>
        </p:nvSpPr>
        <p:spPr>
          <a:xfrm>
            <a:off x="6496859" y="1373320"/>
            <a:ext cx="280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Second order polynomial </a:t>
            </a: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68D0ADC-6107-BC14-84BF-92E5221E8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7697" y="4737298"/>
            <a:ext cx="7796605" cy="35521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08BA082-153A-62DC-B44E-CEBDE58662DC}"/>
              </a:ext>
            </a:extLst>
          </p:cNvPr>
          <p:cNvSpPr txBox="1"/>
          <p:nvPr/>
        </p:nvSpPr>
        <p:spPr>
          <a:xfrm>
            <a:off x="3581400" y="4424667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1C64620-4CA1-E947-CA0D-7EED60D1F861}"/>
                  </a:ext>
                </a:extLst>
              </p:cNvPr>
              <p:cNvSpPr txBox="1"/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1C64620-4CA1-E947-CA0D-7EED60D1F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blipFill>
                <a:blip r:embed="rId7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97B24C7A-39BD-12AB-3F9E-186D0D42440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272" y="1814758"/>
            <a:ext cx="4467733" cy="23827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789503-10FF-2FE5-9C0A-B5459E01336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3600" y="1761310"/>
            <a:ext cx="3727874" cy="266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7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C50E-22C6-88C8-7BAE-2D60BED8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71FC141E-2300-38B0-D8FD-1166BAEA3F12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Shallow Waveguide TE0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71FC141E-2300-38B0-D8FD-1166BAEA3F1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182EAE19-EB79-1450-21AC-65E9DDF31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13DD4CB-52F5-565D-33DD-C25A6A62DB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3F60B3-A020-E8A2-33F8-B4D47ADD9C52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7C6B341-5248-47C2-8AA0-B0B45AE35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903" y="1856574"/>
            <a:ext cx="9222093" cy="42016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BB83B6C-9A68-44D1-73CB-2FC1B533818F}"/>
              </a:ext>
            </a:extLst>
          </p:cNvPr>
          <p:cNvSpPr txBox="1"/>
          <p:nvPr/>
        </p:nvSpPr>
        <p:spPr>
          <a:xfrm>
            <a:off x="3429000" y="1511565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5B74E8A-A6EE-D55B-9C14-5D4C2A5BA713}"/>
                  </a:ext>
                </a:extLst>
              </p:cNvPr>
              <p:cNvSpPr txBox="1"/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5B74E8A-A6EE-D55B-9C14-5D4C2A5BA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blipFill>
                <a:blip r:embed="rId7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66313941-A342-488C-0030-6D6C94AEC94C}"/>
              </a:ext>
            </a:extLst>
          </p:cNvPr>
          <p:cNvSpPr txBox="1"/>
          <p:nvPr/>
        </p:nvSpPr>
        <p:spPr>
          <a:xfrm>
            <a:off x="3429000" y="2595200"/>
            <a:ext cx="6128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Haciendo la comparación con la Deep </a:t>
            </a:r>
            <a:r>
              <a:rPr lang="es-ES" dirty="0" err="1"/>
              <a:t>Waveguide</a:t>
            </a:r>
            <a:r>
              <a:rPr lang="es-ES" dirty="0"/>
              <a:t>, encontramos un aumento de </a:t>
            </a:r>
            <a:r>
              <a:rPr lang="es-ES" dirty="0" err="1"/>
              <a:t>neff</a:t>
            </a:r>
            <a:r>
              <a:rPr lang="es-ES" dirty="0"/>
              <a:t>, pero por otro lado una disminución de n2.</a:t>
            </a:r>
          </a:p>
          <a:p>
            <a:r>
              <a:rPr lang="es-ES" dirty="0"/>
              <a:t>El valor n3 disminuye también ligeramente.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A72398-F331-CFDF-8737-BD92EA652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220839"/>
            <a:ext cx="9088118" cy="2762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05342EF-2915-2BF4-C022-4B6775560A07}"/>
              </a:ext>
            </a:extLst>
          </p:cNvPr>
          <p:cNvSpPr txBox="1"/>
          <p:nvPr/>
        </p:nvSpPr>
        <p:spPr>
          <a:xfrm>
            <a:off x="939800" y="3685018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Valores que teníamos con la Deep </a:t>
            </a:r>
            <a:r>
              <a:rPr lang="es-ES" dirty="0" err="1"/>
              <a:t>Waveguide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5038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0F9F-F0F5-798D-B6C0-42EC9724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EF318298-7211-9CE8-9BF6-C2DBDEB39C93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Shallow Waveguide TM0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EF318298-7211-9CE8-9BF6-C2DBDEB39C9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06EBCC2E-016A-F48A-C4CE-394B6C76B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CF04770-7CCF-B3F7-EB23-9A2D06FAFF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5FEB6A-1148-7CD5-80CA-4B12AE7A2DD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063592-51FC-99E1-CC21-47A7E079949E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E876B93-5A6A-C3BD-29A5-BBD6E95E6395}"/>
              </a:ext>
            </a:extLst>
          </p:cNvPr>
          <p:cNvSpPr txBox="1"/>
          <p:nvPr/>
        </p:nvSpPr>
        <p:spPr>
          <a:xfrm>
            <a:off x="6496859" y="1373320"/>
            <a:ext cx="280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Second order polynomial </a:t>
            </a: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BEA71D9-F533-25DD-2028-E99CDFE8EF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7697" y="4748234"/>
            <a:ext cx="7796605" cy="33334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3F0B0EC-6D97-47E5-8879-B3E287ADCC32}"/>
              </a:ext>
            </a:extLst>
          </p:cNvPr>
          <p:cNvSpPr txBox="1"/>
          <p:nvPr/>
        </p:nvSpPr>
        <p:spPr>
          <a:xfrm>
            <a:off x="3581400" y="4424667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8B2BE6D-04DB-71DB-565F-C24EE330B604}"/>
                  </a:ext>
                </a:extLst>
              </p:cNvPr>
              <p:cNvSpPr txBox="1"/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8B2BE6D-04DB-71DB-565F-C24EE330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151457"/>
                <a:ext cx="6126480" cy="1165640"/>
              </a:xfrm>
              <a:prstGeom prst="rect">
                <a:avLst/>
              </a:prstGeom>
              <a:blipFill>
                <a:blip r:embed="rId7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FA1E7852-433A-6129-C7D0-B874B7AA5B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515" y="1814758"/>
            <a:ext cx="4461246" cy="23827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A610BF-EAAA-364F-AF1E-9236E3B82C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1368" y="1761310"/>
            <a:ext cx="3632337" cy="266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8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1A07-B610-CE9F-1A87-66C35F55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C2A53819-2EC8-476E-A414-9C6EEFC40DFE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Shallow Waveguide TM0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C2A53819-2EC8-476E-A414-9C6EEFC40DF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81FDAE66-5D24-B5C2-6314-FA4D0ACA4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78668BA-CB0B-3009-C2C7-174B31ADC9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9A8D63-3B6E-CF84-05F0-403508B2FB84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49CCA99-47ED-E2A6-C0D7-21DBE4AAC3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903" y="1869510"/>
            <a:ext cx="9222093" cy="394293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BDB32DB-A4F9-C1C3-B391-0B9831D1099E}"/>
              </a:ext>
            </a:extLst>
          </p:cNvPr>
          <p:cNvSpPr txBox="1"/>
          <p:nvPr/>
        </p:nvSpPr>
        <p:spPr>
          <a:xfrm>
            <a:off x="3429000" y="1511565"/>
            <a:ext cx="707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n3                           n2                                    n1                  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C175E37-4F39-F6F7-B8EB-1C1A16612C41}"/>
                  </a:ext>
                </a:extLst>
              </p:cNvPr>
              <p:cNvSpPr txBox="1"/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C175E37-4F39-F6F7-B8EB-1C1A16612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295603"/>
                <a:ext cx="2489200" cy="1165640"/>
              </a:xfrm>
              <a:prstGeom prst="rect">
                <a:avLst/>
              </a:prstGeom>
              <a:blipFill>
                <a:blip r:embed="rId7"/>
                <a:stretch>
                  <a:fillRect l="-19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E8E575D0-40DB-8D7A-7802-EF621EFBC7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3593" y="4368403"/>
            <a:ext cx="9222093" cy="42919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AB12798-D0D8-2EB0-662F-AF23F49A34DE}"/>
              </a:ext>
            </a:extLst>
          </p:cNvPr>
          <p:cNvSpPr txBox="1"/>
          <p:nvPr/>
        </p:nvSpPr>
        <p:spPr>
          <a:xfrm>
            <a:off x="3283198" y="2536686"/>
            <a:ext cx="6128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Haciendo la comparación con la Deep </a:t>
            </a:r>
            <a:r>
              <a:rPr lang="es-ES" dirty="0" err="1"/>
              <a:t>Waveguide</a:t>
            </a:r>
            <a:r>
              <a:rPr lang="es-ES" dirty="0"/>
              <a:t>, encontramos un aumento de </a:t>
            </a:r>
            <a:r>
              <a:rPr lang="es-ES" dirty="0" err="1"/>
              <a:t>neff</a:t>
            </a:r>
            <a:r>
              <a:rPr lang="es-ES" dirty="0"/>
              <a:t>, pero por otro lado una disminución de n2.</a:t>
            </a:r>
          </a:p>
          <a:p>
            <a:r>
              <a:rPr lang="es-ES" dirty="0"/>
              <a:t>El valor n3 disminuye también ligeramente.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80D3CE-724B-3C16-7474-4DEB0380AF9A}"/>
              </a:ext>
            </a:extLst>
          </p:cNvPr>
          <p:cNvSpPr txBox="1"/>
          <p:nvPr/>
        </p:nvSpPr>
        <p:spPr>
          <a:xfrm>
            <a:off x="1233593" y="3907376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Valores que teníamos con la Deep </a:t>
            </a:r>
            <a:r>
              <a:rPr lang="es-ES" dirty="0" err="1"/>
              <a:t>Waveguide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6481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7D6D-2EBE-651B-2992-9CC80B91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9360EC7-2A4C-370F-AFFD-6EC982E75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 TE0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0AEE972-BE8E-0B11-C490-37B31ECF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AFC1A94-45E6-31C6-9BFE-D4E98E0BAB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BE0B43-EDD5-4E37-5634-C1C70538F9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74F35B-D191-A462-AD7B-124F13DE9A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6277" y="1498925"/>
            <a:ext cx="4796845" cy="3809425"/>
          </a:xfrm>
          <a:prstGeom prst="rect">
            <a:avLst/>
          </a:prstGeom>
        </p:spPr>
      </p:pic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9095F3D9-170F-6EF9-D214-12DF46EAC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384" y="1395441"/>
            <a:ext cx="5398826" cy="401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1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2B1FB-6397-1786-967D-D05B8755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F1B2CCE-FBE8-6A14-5158-558470B8F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 TE0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6295097-5941-C4E4-9F5B-CCE1C3DF3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D36091F-C426-AD9E-FED8-7429DDADFD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D91341-E731-128B-74C3-54F2A39713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447E68-F4D6-DEC1-3C17-60C8A376030E}"/>
              </a:ext>
            </a:extLst>
          </p:cNvPr>
          <p:cNvSpPr txBox="1"/>
          <p:nvPr/>
        </p:nvSpPr>
        <p:spPr>
          <a:xfrm>
            <a:off x="616527" y="1295400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considerando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0.1 dB,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podríamos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considerer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radio de 30um,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rango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70um.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48E19186-2A83-1A13-0204-F37C76919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13" y="2289971"/>
            <a:ext cx="5243869" cy="347413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A2C9798-8010-F51E-CE0C-365672D686AF}"/>
              </a:ext>
            </a:extLst>
          </p:cNvPr>
          <p:cNvSpPr txBox="1"/>
          <p:nvPr/>
        </p:nvSpPr>
        <p:spPr>
          <a:xfrm>
            <a:off x="872913" y="1997440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visual de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Modo TE0 R=20um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93CED9B-58E1-36F7-65B7-1F8AB73C12B5}"/>
              </a:ext>
            </a:extLst>
          </p:cNvPr>
          <p:cNvSpPr txBox="1"/>
          <p:nvPr/>
        </p:nvSpPr>
        <p:spPr>
          <a:xfrm>
            <a:off x="6324600" y="3604700"/>
            <a:ext cx="6128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Ver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modo TE0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ayudará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modo TM0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posteriormente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3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AD69-DAA6-1AE7-7C01-C97649BD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FA2370A-9A9A-4596-5161-98C6B4CDB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 TM0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205C76C-88BE-EE3D-195B-12EA1CBED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95DBDDE-C345-D554-D67A-9048961F6A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FEADF6-E2E5-0608-C9C5-8D5C152A9E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C54D18-4AC4-0FA5-57CE-4DB3FA055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892" y="2568515"/>
            <a:ext cx="4847338" cy="3809425"/>
          </a:xfrm>
          <a:prstGeom prst="rect">
            <a:avLst/>
          </a:prstGeom>
        </p:spPr>
      </p:pic>
      <p:pic>
        <p:nvPicPr>
          <p:cNvPr id="4" name="Imagen 3" descr="Gráfico, Diagrama, Gráfico de líneas&#10;&#10;El contenido generado por IA puede ser incorrecto.">
            <a:extLst>
              <a:ext uri="{FF2B5EF4-FFF2-40B4-BE49-F238E27FC236}">
                <a16:creationId xmlns:a16="http://schemas.microsoft.com/office/drawing/2014/main" id="{A101538B-B92D-6F7D-6D06-FE195DABC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464956"/>
            <a:ext cx="4847338" cy="3880160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FF17D9B7-D0E3-5FC2-BDA3-AF40C62C9C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19" y="1193846"/>
            <a:ext cx="5633926" cy="12315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876D79-D3B0-58DA-5E27-08C139CC9648}"/>
              </a:ext>
            </a:extLst>
          </p:cNvPr>
          <p:cNvSpPr txBox="1"/>
          <p:nvPr/>
        </p:nvSpPr>
        <p:spPr>
          <a:xfrm>
            <a:off x="6477000" y="1538484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/>
              <a:t>Corresponde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este</a:t>
            </a:r>
            <a:r>
              <a:rPr lang="en-US" b="0" dirty="0"/>
              <a:t> </a:t>
            </a:r>
            <a:r>
              <a:rPr lang="en-US" b="0" dirty="0" err="1"/>
              <a:t>caso</a:t>
            </a:r>
            <a:r>
              <a:rPr lang="en-US" b="0" dirty="0"/>
              <a:t> con </a:t>
            </a:r>
            <a:r>
              <a:rPr lang="en-US" b="0" dirty="0" err="1"/>
              <a:t>el</a:t>
            </a:r>
            <a:r>
              <a:rPr lang="en-US" b="0" dirty="0"/>
              <a:t> modo 3.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301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3506-6AAB-A14F-5B0C-B74354FB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3B02D9A-B9AD-8C59-7850-21411CD18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 TM0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E9B8864-539D-97A4-C4E2-7C6873F66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D4C4061-65D4-91CE-658C-458E9ED5F3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770F89-FD98-3271-18E6-43E028CDE50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19B592-63DD-65D9-F4D3-5DEC11A49960}"/>
              </a:ext>
            </a:extLst>
          </p:cNvPr>
          <p:cNvSpPr txBox="1"/>
          <p:nvPr/>
        </p:nvSpPr>
        <p:spPr>
          <a:xfrm>
            <a:off x="616527" y="1295400"/>
            <a:ext cx="11199971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modo TM0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viaja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intensidad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incluso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un radio de 20um,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campo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Tebemos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tantas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insignificantes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7" name="Imagen 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CADE9EB3-13C5-3352-D066-DDBA4B77D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" y="2133600"/>
            <a:ext cx="4501989" cy="29673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E64348-C561-1036-A9C7-9BC68C0578FE}"/>
              </a:ext>
            </a:extLst>
          </p:cNvPr>
          <p:cNvSpPr txBox="1"/>
          <p:nvPr/>
        </p:nvSpPr>
        <p:spPr>
          <a:xfrm>
            <a:off x="685800" y="1830627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visual de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Modo TM0 R=20um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566823-C8D7-F459-6DD5-E46085515F45}"/>
              </a:ext>
            </a:extLst>
          </p:cNvPr>
          <p:cNvSpPr txBox="1"/>
          <p:nvPr/>
        </p:nvSpPr>
        <p:spPr>
          <a:xfrm>
            <a:off x="5678936" y="3244334"/>
            <a:ext cx="6128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casi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inexistente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modo TE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veíamos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intensidad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cierto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526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2215</TotalTime>
  <Words>1125</Words>
  <Application>Microsoft Office PowerPoint</Application>
  <PresentationFormat>Panorámica</PresentationFormat>
  <Paragraphs>133</Paragraphs>
  <Slides>17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Deep Waveguide TE0 Let’s model the waveguide using a second order polynomial:  n_eff (λ)=n_1+n_2 (λ-λ_0 )+n_3 (λ-λ_0 )^2 </vt:lpstr>
      <vt:lpstr>Learning outcome #3 – Deep Waveguide TE0 Let’s model the waveguide using a second order polynomial:  n_eff (λ)=n_1+n_2 (λ-λ_0 )+n_3 (λ-λ_0 )^2 </vt:lpstr>
      <vt:lpstr>Learning outcome #3 – Deep Waveguide TM0 Let’s model the waveguide using a second order polynomial:  n_eff (λ)=n_1+n_2 (λ-λ_0 )+n_3 (λ-λ_0 )^2 </vt:lpstr>
      <vt:lpstr>Learning outcome #3 – Deep Waveguide TM0 Let’s model the waveguide using a second order polynomial:  n_eff (λ)=n_1+n_2 (λ-λ_0 )+n_3 (λ-λ_0 )^2 </vt:lpstr>
      <vt:lpstr>Learning outcome #3 – Shallow Waveguide TE0 Let’s model the waveguide using a second order polynomial:  n_eff (λ)=n_1+n_2 (λ-λ_0 )+n_3 (λ-λ_0 )^2 </vt:lpstr>
      <vt:lpstr>Learning outcome #3 – Shallow Waveguide TE0 Let’s model the waveguide using a second order polynomial:  n_eff (λ)=n_1+n_2 (λ-λ_0 )+n_3 (λ-λ_0 )^2 </vt:lpstr>
      <vt:lpstr>Learning outcome #3 – Shallow Waveguide TM0 Let’s model the waveguide using a second order polynomial:  n_eff (λ)=n_1+n_2 (λ-λ_0 )+n_3 (λ-λ_0 )^2 </vt:lpstr>
      <vt:lpstr>Learning outcome #3 – Shallow Waveguide TM0 Let’s model the waveguide using a second order polynomial:  n_eff (λ)=n_1+n_2 (λ-λ_0 )+n_3 (λ-λ_0 )^2 </vt:lpstr>
      <vt:lpstr>Learning outcome #4 – Bend waveguide radius vs. loss – deep TE0 Find  neff_TE0 for wvl 1.55 µm, width 1.0 µm for R=25,50,75,100, 125,150 µm </vt:lpstr>
      <vt:lpstr>Learning outcome #4 – Bend waveguide radius vs. loss – deep TE0 Find  neff_TE0 for wvl 1.55 µm, width 1.0 µm for R=25,50,75,100, 125,150 µm </vt:lpstr>
      <vt:lpstr>Learning outcome #4 – Bend waveguide radius vs. loss – deep TM0 Find  neff_TE0 for wvl 1.55 µm, width 1.0 µm for R=25,50,75,100, 125,150 µm </vt:lpstr>
      <vt:lpstr>Learning outcome #4 – Bend waveguide radius vs. loss – deep TM0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Roberto José Fernández Sevilla</cp:lastModifiedBy>
  <cp:revision>21</cp:revision>
  <dcterms:created xsi:type="dcterms:W3CDTF">2025-01-27T02:46:57Z</dcterms:created>
  <dcterms:modified xsi:type="dcterms:W3CDTF">2026-03-02T13:29:47Z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