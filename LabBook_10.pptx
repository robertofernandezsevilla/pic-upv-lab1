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18"/>
  </p:notesMasterIdLst>
  <p:handoutMasterIdLst>
    <p:handoutMasterId r:id="rId19"/>
  </p:handoutMasterIdLst>
  <p:sldIdLst>
    <p:sldId id="256" r:id="rId2"/>
    <p:sldId id="295" r:id="rId3"/>
    <p:sldId id="290" r:id="rId4"/>
    <p:sldId id="292" r:id="rId5"/>
    <p:sldId id="297" r:id="rId6"/>
    <p:sldId id="298" r:id="rId7"/>
    <p:sldId id="299" r:id="rId8"/>
    <p:sldId id="300" r:id="rId9"/>
    <p:sldId id="301" r:id="rId10"/>
    <p:sldId id="302" r:id="rId11"/>
    <p:sldId id="303" r:id="rId12"/>
    <p:sldId id="304" r:id="rId13"/>
    <p:sldId id="305" r:id="rId14"/>
    <p:sldId id="306" r:id="rId15"/>
    <p:sldId id="293" r:id="rId16"/>
    <p:sldId id="288" r:id="rId17"/>
  </p:sldIdLst>
  <p:sldSz cx="12192000" cy="6858000"/>
  <p:notesSz cx="12192000" cy="6858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243A380-F68D-4B97-8CF0-04FACEB71A64}" v="8" dt="2026-02-16T10:00:04.333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5538" autoAdjust="0"/>
    <p:restoredTop sz="95033" autoAdjust="0"/>
  </p:normalViewPr>
  <p:slideViewPr>
    <p:cSldViewPr>
      <p:cViewPr varScale="1">
        <p:scale>
          <a:sx n="83" d="100"/>
          <a:sy n="83" d="100"/>
        </p:scale>
        <p:origin x="1123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3" d="100"/>
          <a:sy n="83" d="100"/>
        </p:scale>
        <p:origin x="1392" y="6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ristian Camilo Cano Vasquez" userId="8c73a2a4-758b-4e34-81ed-39462e48bd92" providerId="ADAL" clId="{E6287060-0277-4BCC-9556-78F4A9113EC4}"/>
    <pc:docChg chg="custSel addSld delSld modSld">
      <pc:chgData name="Christian Camilo Cano Vasquez" userId="8c73a2a4-758b-4e34-81ed-39462e48bd92" providerId="ADAL" clId="{E6287060-0277-4BCC-9556-78F4A9113EC4}" dt="2026-02-16T10:00:04.333" v="112"/>
      <pc:docMkLst>
        <pc:docMk/>
      </pc:docMkLst>
      <pc:sldChg chg="addSp delSp modSp mod">
        <pc:chgData name="Christian Camilo Cano Vasquez" userId="8c73a2a4-758b-4e34-81ed-39462e48bd92" providerId="ADAL" clId="{E6287060-0277-4BCC-9556-78F4A9113EC4}" dt="2026-02-16T09:54:36.314" v="109" actId="20577"/>
        <pc:sldMkLst>
          <pc:docMk/>
          <pc:sldMk cId="730501311" sldId="290"/>
        </pc:sldMkLst>
        <pc:spChg chg="add mod">
          <ac:chgData name="Christian Camilo Cano Vasquez" userId="8c73a2a4-758b-4e34-81ed-39462e48bd92" providerId="ADAL" clId="{E6287060-0277-4BCC-9556-78F4A9113EC4}" dt="2026-02-16T09:48:48.742" v="10" actId="1076"/>
          <ac:spMkLst>
            <pc:docMk/>
            <pc:sldMk cId="730501311" sldId="290"/>
            <ac:spMk id="2" creationId="{029F2FF9-FEB4-7AA3-B3B4-EFA9CFA0E230}"/>
          </ac:spMkLst>
        </pc:spChg>
        <pc:spChg chg="add mod">
          <ac:chgData name="Christian Camilo Cano Vasquez" userId="8c73a2a4-758b-4e34-81ed-39462e48bd92" providerId="ADAL" clId="{E6287060-0277-4BCC-9556-78F4A9113EC4}" dt="2026-02-16T09:49:37.395" v="33" actId="20577"/>
          <ac:spMkLst>
            <pc:docMk/>
            <pc:sldMk cId="730501311" sldId="290"/>
            <ac:spMk id="4" creationId="{C2C94B57-6111-4070-F6BA-8C3B9C305618}"/>
          </ac:spMkLst>
        </pc:spChg>
        <pc:spChg chg="del">
          <ac:chgData name="Christian Camilo Cano Vasquez" userId="8c73a2a4-758b-4e34-81ed-39462e48bd92" providerId="ADAL" clId="{E6287060-0277-4BCC-9556-78F4A9113EC4}" dt="2026-02-16T09:48:32.837" v="5" actId="478"/>
          <ac:spMkLst>
            <pc:docMk/>
            <pc:sldMk cId="730501311" sldId="290"/>
            <ac:spMk id="7" creationId="{F917B3AA-589C-A90A-EE95-EE60C6D04663}"/>
          </ac:spMkLst>
        </pc:spChg>
        <pc:spChg chg="del">
          <ac:chgData name="Christian Camilo Cano Vasquez" userId="8c73a2a4-758b-4e34-81ed-39462e48bd92" providerId="ADAL" clId="{E6287060-0277-4BCC-9556-78F4A9113EC4}" dt="2026-02-16T09:48:32.837" v="5" actId="478"/>
          <ac:spMkLst>
            <pc:docMk/>
            <pc:sldMk cId="730501311" sldId="290"/>
            <ac:spMk id="9" creationId="{793F5757-34AB-6F24-0981-9F1F15A0ADF8}"/>
          </ac:spMkLst>
        </pc:spChg>
        <pc:spChg chg="del">
          <ac:chgData name="Christian Camilo Cano Vasquez" userId="8c73a2a4-758b-4e34-81ed-39462e48bd92" providerId="ADAL" clId="{E6287060-0277-4BCC-9556-78F4A9113EC4}" dt="2026-02-16T09:48:35.096" v="6" actId="478"/>
          <ac:spMkLst>
            <pc:docMk/>
            <pc:sldMk cId="730501311" sldId="290"/>
            <ac:spMk id="11" creationId="{8BD4C233-B5D9-B6AA-93A8-CF2F130CFF9C}"/>
          </ac:spMkLst>
        </pc:spChg>
        <pc:spChg chg="mod">
          <ac:chgData name="Christian Camilo Cano Vasquez" userId="8c73a2a4-758b-4e34-81ed-39462e48bd92" providerId="ADAL" clId="{E6287060-0277-4BCC-9556-78F4A9113EC4}" dt="2026-02-16T09:54:36.314" v="109" actId="20577"/>
          <ac:spMkLst>
            <pc:docMk/>
            <pc:sldMk cId="730501311" sldId="290"/>
            <ac:spMk id="16" creationId="{471E1424-6C4B-2D9A-1352-30AFB987AD41}"/>
          </ac:spMkLst>
        </pc:spChg>
      </pc:sldChg>
      <pc:sldChg chg="modSp add del mod">
        <pc:chgData name="Christian Camilo Cano Vasquez" userId="8c73a2a4-758b-4e34-81ed-39462e48bd92" providerId="ADAL" clId="{E6287060-0277-4BCC-9556-78F4A9113EC4}" dt="2026-02-16T09:54:44.707" v="111" actId="20577"/>
        <pc:sldMkLst>
          <pc:docMk/>
          <pc:sldMk cId="2900117438" sldId="292"/>
        </pc:sldMkLst>
        <pc:spChg chg="mod">
          <ac:chgData name="Christian Camilo Cano Vasquez" userId="8c73a2a4-758b-4e34-81ed-39462e48bd92" providerId="ADAL" clId="{E6287060-0277-4BCC-9556-78F4A9113EC4}" dt="2026-02-16T09:51:39.768" v="80" actId="313"/>
          <ac:spMkLst>
            <pc:docMk/>
            <pc:sldMk cId="2900117438" sldId="292"/>
            <ac:spMk id="2" creationId="{82A62DD6-5488-72A1-9926-0CAEE59089A9}"/>
          </ac:spMkLst>
        </pc:spChg>
        <pc:spChg chg="mod">
          <ac:chgData name="Christian Camilo Cano Vasquez" userId="8c73a2a4-758b-4e34-81ed-39462e48bd92" providerId="ADAL" clId="{E6287060-0277-4BCC-9556-78F4A9113EC4}" dt="2026-02-16T09:54:44.707" v="111" actId="20577"/>
          <ac:spMkLst>
            <pc:docMk/>
            <pc:sldMk cId="2900117438" sldId="292"/>
            <ac:spMk id="16" creationId="{6AA2E789-F7AE-F068-274C-E0F13A22DBCA}"/>
          </ac:spMkLst>
        </pc:spChg>
      </pc:sldChg>
      <pc:sldChg chg="modSp add del mod">
        <pc:chgData name="Christian Camilo Cano Vasquez" userId="8c73a2a4-758b-4e34-81ed-39462e48bd92" providerId="ADAL" clId="{E6287060-0277-4BCC-9556-78F4A9113EC4}" dt="2026-02-16T09:50:51.822" v="37" actId="20577"/>
        <pc:sldMkLst>
          <pc:docMk/>
          <pc:sldMk cId="3660438245" sldId="293"/>
        </pc:sldMkLst>
        <pc:spChg chg="mod">
          <ac:chgData name="Christian Camilo Cano Vasquez" userId="8c73a2a4-758b-4e34-81ed-39462e48bd92" providerId="ADAL" clId="{E6287060-0277-4BCC-9556-78F4A9113EC4}" dt="2026-02-16T09:45:25.127" v="4" actId="115"/>
          <ac:spMkLst>
            <pc:docMk/>
            <pc:sldMk cId="3660438245" sldId="293"/>
            <ac:spMk id="2" creationId="{FDE3A197-9508-F9F1-1FEB-FF883D78C151}"/>
          </ac:spMkLst>
        </pc:spChg>
        <pc:spChg chg="mod">
          <ac:chgData name="Christian Camilo Cano Vasquez" userId="8c73a2a4-758b-4e34-81ed-39462e48bd92" providerId="ADAL" clId="{E6287060-0277-4BCC-9556-78F4A9113EC4}" dt="2026-02-16T09:50:51.822" v="37" actId="20577"/>
          <ac:spMkLst>
            <pc:docMk/>
            <pc:sldMk cId="3660438245" sldId="293"/>
            <ac:spMk id="16" creationId="{742C31CE-19F0-B995-0997-9A2D6A879BF7}"/>
          </ac:spMkLst>
        </pc:spChg>
      </pc:sldChg>
      <pc:sldChg chg="modSp mod">
        <pc:chgData name="Christian Camilo Cano Vasquez" userId="8c73a2a4-758b-4e34-81ed-39462e48bd92" providerId="ADAL" clId="{E6287060-0277-4BCC-9556-78F4A9113EC4}" dt="2026-02-16T10:00:04.333" v="112"/>
        <pc:sldMkLst>
          <pc:docMk/>
          <pc:sldMk cId="473922805" sldId="295"/>
        </pc:sldMkLst>
        <pc:spChg chg="mod">
          <ac:chgData name="Christian Camilo Cano Vasquez" userId="8c73a2a4-758b-4e34-81ed-39462e48bd92" providerId="ADAL" clId="{E6287060-0277-4BCC-9556-78F4A9113EC4}" dt="2026-02-16T10:00:04.333" v="112"/>
          <ac:spMkLst>
            <pc:docMk/>
            <pc:sldMk cId="473922805" sldId="295"/>
            <ac:spMk id="4" creationId="{9F7BC140-B3D8-C3CB-55AD-9064C7CDE9CA}"/>
          </ac:spMkLst>
        </pc:spChg>
      </pc:sldChg>
      <pc:sldChg chg="del">
        <pc:chgData name="Christian Camilo Cano Vasquez" userId="8c73a2a4-758b-4e34-81ed-39462e48bd92" providerId="ADAL" clId="{E6287060-0277-4BCC-9556-78F4A9113EC4}" dt="2026-02-16T09:50:39.931" v="34" actId="47"/>
        <pc:sldMkLst>
          <pc:docMk/>
          <pc:sldMk cId="1245186850" sldId="296"/>
        </pc:sldMkLst>
      </pc:sldChg>
      <pc:sldChg chg="modSp add del">
        <pc:chgData name="Christian Camilo Cano Vasquez" userId="8c73a2a4-758b-4e34-81ed-39462e48bd92" providerId="ADAL" clId="{E6287060-0277-4BCC-9556-78F4A9113EC4}" dt="2026-02-16T09:50:57.288" v="39" actId="20577"/>
        <pc:sldMkLst>
          <pc:docMk/>
          <pc:sldMk cId="236054401" sldId="297"/>
        </pc:sldMkLst>
        <pc:spChg chg="mod">
          <ac:chgData name="Christian Camilo Cano Vasquez" userId="8c73a2a4-758b-4e34-81ed-39462e48bd92" providerId="ADAL" clId="{E6287060-0277-4BCC-9556-78F4A9113EC4}" dt="2026-02-16T09:50:57.288" v="39" actId="20577"/>
          <ac:spMkLst>
            <pc:docMk/>
            <pc:sldMk cId="236054401" sldId="297"/>
            <ac:spMk id="16" creationId="{394400B4-EE16-8E85-AB54-E82FE3B29345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ADD96E76-517F-B468-04D8-38EFA44947E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678D0B9-782A-7C16-D731-EEB7F991FA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38F8DC-35B0-48E6-A86E-42F1F08DD00F}" type="datetimeFigureOut">
              <a:rPr lang="es-ES" smtClean="0"/>
              <a:t>20/02/2026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F2E7B1C-60E2-8A48-EEE0-6715FC30A8B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428D795-4EA2-62F0-B78A-5F215C828C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6A549-763A-4A89-A454-A94BAF51395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034777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CBDC12-F39B-4B97-8F4D-6734F9D366FF}" type="datetimeFigureOut">
              <a:rPr lang="es-ES" smtClean="0"/>
              <a:t>20/02/2026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6223B9-C868-4436-87D9-1A3152E115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4211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925323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93BBE-3704-D894-1C10-5488EE611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9BB04E2-F70F-42F7-9964-3D274C49FB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664AEC-7D1D-9DDC-3B94-3AE8450C7E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8F62EEB-2D30-2026-D252-4267AF6882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160790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69AA65-166B-474B-A6C9-9858D86A9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8158223-A8BA-05F6-464C-EC03A9FB8C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ECB4DF-C329-8F47-9ECE-661B5B2BF9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41B2276-A4E2-DFBF-0088-6997E86C9F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623159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8525BD-7DE3-EBCC-F3B7-B8561D622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DE52B5E-1E00-3A47-7E7E-4D48634764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E55AD7D-913D-B25D-7A41-A3B05D04A5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C6F38EE-2322-8BBC-C7CE-84FE2E21FE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9893560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B58C8-CAB7-C8AB-CC83-595D3D6DF0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43A5EF5A-AF11-2A68-9ABC-ACA76E5895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B39FCB3-3383-75C8-4948-C3EA7CD1CE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EA78765-2D39-C272-1F08-9F81AD0EED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552527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A4581-7797-447B-8842-9A6B15F8C0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C9CA83DE-9937-842B-C622-7C36624BDD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B8C9D2A4-E73D-AB77-A220-A3ECFF40CD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1CC59F5-34AD-00BC-43DB-F023D26C5B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292984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0B55FF-C778-E8C8-EE36-D29035399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E0F52381-FA83-A39D-7A77-94514486A9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8BA6369A-4D10-A442-4BC6-5878B20E0E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B5AFD09-C903-E201-0165-DE1847C3D2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919991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0A06A-F59E-59B7-FDC8-F5D2B7D30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C10A395-8DEB-5510-1A90-FEBA9FD1BD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670531E-E457-C1D3-A0B5-59F40E35A6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82B3746-A6A2-A16D-A2AB-C6BDF21A84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6740766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761CA0-A666-87AB-7FBC-2D11F76E6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3359E29-8ED2-CB3A-3CDD-69881A908F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127C5315-709B-BB9F-FE89-B47D1C582D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9FE6BB9-E1AD-0FCA-7FD7-0EBAD262FA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2711630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E29789-DBBE-1F54-D5C7-A8A4A10BDC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DFFD6C1-3108-2CC2-A590-E4E80C8698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62BCD62-AE7C-C38F-39AF-E8955E6FB9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AC0A3E7-1CAC-011A-B4EC-E2FBA85D1B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0400579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4EBC0B-8B86-32AE-E25D-AF2B749D8B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2E0244A-F55A-26D1-ADF4-5EB1EEBA17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88AE108A-39CE-7516-99F1-3EAA723626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305BF7D-E86C-BD3E-33FF-ADE59ED64B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5069548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61AC6-3391-EBBB-15F3-52CF04CC01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CFBBD4C4-BF60-0877-5247-6332206C1E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453BBE7-A9C2-8007-9CE8-A444FA5C56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F63084A-31DF-8BA6-B653-A0AB2F1C74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83364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23B86-D15F-9CD8-C5EA-3EAAD8BAC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C73881A-26A5-ECF9-C6F2-3DEFA77AEF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B7AFC79-4973-3930-959B-AEF8810CFE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345D0F3-6273-0338-FCDA-175B73D7C9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173827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1.0. WAVEGUIDES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90550" y="206752"/>
            <a:ext cx="10991850" cy="307777"/>
          </a:xfrm>
        </p:spPr>
        <p:txBody>
          <a:bodyPr lIns="0" tIns="0" rIns="0" bIns="0"/>
          <a:lstStyle>
            <a:lvl1pPr>
              <a:defRPr sz="20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2152910"/>
            <a:ext cx="10972800" cy="3950710"/>
          </a:xfrm>
        </p:spPr>
        <p:txBody>
          <a:bodyPr lIns="0" tIns="0" rIns="0" bIns="0"/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09600" y="6457057"/>
            <a:ext cx="2743200" cy="184666"/>
          </a:xfrm>
        </p:spPr>
        <p:txBody>
          <a:bodyPr lIns="0" tIns="0" rIns="0" bIns="0" anchor="ctr"/>
          <a:lstStyle>
            <a:lvl1pPr>
              <a:defRPr sz="12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1.0. WAVEGUIDES</a:t>
            </a:r>
            <a:endParaRPr spc="-5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2636520"/>
            <a:ext cx="3944620" cy="1584960"/>
          </a:xfrm>
          <a:custGeom>
            <a:avLst/>
            <a:gdLst/>
            <a:ahLst/>
            <a:cxnLst/>
            <a:rect l="l" t="t" r="r" b="b"/>
            <a:pathLst>
              <a:path w="3944620" h="1584960">
                <a:moveTo>
                  <a:pt x="0" y="1584959"/>
                </a:moveTo>
                <a:lnTo>
                  <a:pt x="3944112" y="1584959"/>
                </a:lnTo>
                <a:lnTo>
                  <a:pt x="3944112" y="0"/>
                </a:lnTo>
                <a:lnTo>
                  <a:pt x="0" y="0"/>
                </a:lnTo>
                <a:lnTo>
                  <a:pt x="0" y="158495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k object 17"/>
          <p:cNvSpPr/>
          <p:nvPr/>
        </p:nvSpPr>
        <p:spPr>
          <a:xfrm>
            <a:off x="771144" y="2951988"/>
            <a:ext cx="2403348" cy="95402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>
          <a:xfrm>
            <a:off x="92964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F5CB4B75-CC85-5F87-B13B-97FD63FFBC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1213" y="6357666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594327" y="4722313"/>
            <a:ext cx="1521016" cy="125385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>
          <a:xfrm>
            <a:off x="93726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9F3DE434-B07E-429D-5547-0D42DA9B05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891539" y="5283707"/>
            <a:ext cx="2624328" cy="1574289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986910" y="1699005"/>
            <a:ext cx="2599054" cy="2692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695950" y="6465068"/>
            <a:ext cx="1210945" cy="153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1.0. WAVEGUIDES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cccanvas-upv/pic-upv-lab1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4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../media/image70.png"/><Relationship Id="rId7" Type="http://schemas.openxmlformats.org/officeDocument/2006/relationships/image" Target="NUL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0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4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20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2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8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3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NULL"/><Relationship Id="rId4" Type="http://schemas.openxmlformats.org/officeDocument/2006/relationships/image" Target="../media/image4.sv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749676" y="4919853"/>
            <a:ext cx="610679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3200" b="1" dirty="0" err="1">
                <a:latin typeface="Lucida Sans"/>
                <a:cs typeface="Lucida Sans"/>
              </a:rPr>
              <a:t>Lab</a:t>
            </a:r>
            <a:r>
              <a:rPr lang="es-ES" sz="3200" b="1" dirty="0">
                <a:latin typeface="Lucida Sans"/>
                <a:cs typeface="Lucida Sans"/>
              </a:rPr>
              <a:t> Book 1.0. </a:t>
            </a:r>
            <a:r>
              <a:rPr lang="es-ES" sz="3200" b="1" dirty="0" err="1">
                <a:latin typeface="Lucida Sans"/>
                <a:cs typeface="Lucida Sans"/>
              </a:rPr>
              <a:t>Waveguides</a:t>
            </a:r>
            <a:endParaRPr sz="3200" dirty="0">
              <a:latin typeface="Lucida Sans"/>
              <a:cs typeface="Lucida San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749676" y="5610250"/>
            <a:ext cx="8223124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pc="165" dirty="0" err="1">
                <a:latin typeface="Arial"/>
                <a:cs typeface="Arial"/>
              </a:rPr>
              <a:t>Student</a:t>
            </a:r>
            <a:r>
              <a:rPr lang="es-ES" spc="165" dirty="0">
                <a:latin typeface="Arial"/>
                <a:cs typeface="Arial"/>
              </a:rPr>
              <a:t>: 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0" y="0"/>
            <a:ext cx="12192000" cy="418947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6F66F51-9238-50FE-85C2-BAC3DA79D76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</a:t>
            </a:fld>
            <a:endParaRPr lang="es-E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8A4D4-C3C4-085B-A7AD-EA04D83F4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1B7433F1-7A0E-D925-6140-7305139D05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6153785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2500" u="sng" spc="-5" dirty="0" err="1">
                <a:latin typeface="+mj-lt"/>
                <a:cs typeface="Lucida Sans"/>
              </a:rPr>
              <a:t>Instructions</a:t>
            </a:r>
            <a:br>
              <a:rPr lang="es-ES" sz="2400" spc="-5" dirty="0">
                <a:latin typeface="+mj-lt"/>
                <a:cs typeface="Lucida Sans"/>
              </a:rPr>
            </a:br>
            <a:r>
              <a:rPr lang="es-ES" b="0" spc="-5" dirty="0">
                <a:latin typeface="+mj-lt"/>
                <a:cs typeface="Lucida Sans"/>
              </a:rPr>
              <a:t>General</a:t>
            </a:r>
            <a:endParaRPr sz="24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E518E73B-CE22-A00C-9C86-634FB762EE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1E163A6B-DFE4-C67D-5F3E-A56ACEF2EA4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5FC84FF-30D3-FDAB-0A5A-0F07F8EE1161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9F7BC140-B3D8-C3CB-55AD-9064C7CDE9CA}"/>
              </a:ext>
            </a:extLst>
          </p:cNvPr>
          <p:cNvSpPr txBox="1">
            <a:spLocks/>
          </p:cNvSpPr>
          <p:nvPr/>
        </p:nvSpPr>
        <p:spPr>
          <a:xfrm>
            <a:off x="608011" y="1163263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sz="2000" b="1" kern="0" dirty="0">
                <a:solidFill>
                  <a:sysClr val="windowText" lastClr="000000"/>
                </a:solidFill>
                <a:sym typeface="Wingdings" pitchFamily="2" charset="2"/>
              </a:rPr>
              <a:t>SCRIPTS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From 	GitHub 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Fork the repo: </a:t>
            </a:r>
            <a:r>
              <a:rPr lang="es-ES" dirty="0" err="1">
                <a:hlinkClick r:id="rId4"/>
              </a:rPr>
              <a:t>cccanvas-upv</a:t>
            </a:r>
            <a:r>
              <a:rPr lang="es-ES">
                <a:hlinkClick r:id="rId4"/>
              </a:rPr>
              <a:t>/pic-upv-lab1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Clone the repo using </a:t>
            </a:r>
            <a:r>
              <a:rPr lang="en-US" kern="0" dirty="0" err="1">
                <a:solidFill>
                  <a:sysClr val="windowText" lastClr="000000"/>
                </a:solidFill>
                <a:sym typeface="Wingdings" pitchFamily="2" charset="2"/>
              </a:rPr>
              <a:t>VSCode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</a:rPr>
              <a:t>Run the </a:t>
            </a:r>
            <a:r>
              <a:rPr lang="en-US" kern="0" dirty="0" err="1">
                <a:solidFill>
                  <a:sysClr val="windowText" lastClr="000000"/>
                </a:solidFill>
              </a:rPr>
              <a:t>Jupyter</a:t>
            </a:r>
            <a:r>
              <a:rPr lang="en-US" kern="0" dirty="0">
                <a:solidFill>
                  <a:sysClr val="windowText" lastClr="000000"/>
                </a:solidFill>
              </a:rPr>
              <a:t> Notebook: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 err="1">
                <a:solidFill>
                  <a:sysClr val="windowText" lastClr="000000"/>
                </a:solidFill>
              </a:rPr>
              <a:t>WAVEGUIDES_Student.ipynb</a:t>
            </a:r>
            <a:r>
              <a:rPr lang="en-US" kern="0" dirty="0">
                <a:solidFill>
                  <a:sysClr val="windowText" lastClr="000000"/>
                </a:solidFill>
              </a:rPr>
              <a:t> </a:t>
            </a:r>
          </a:p>
          <a:p>
            <a:pPr algn="just"/>
            <a:endParaRPr lang="en-US" sz="2000" b="1" i="1" u="sng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96" name="object 7">
            <a:extLst>
              <a:ext uri="{FF2B5EF4-FFF2-40B4-BE49-F238E27FC236}">
                <a16:creationId xmlns:a16="http://schemas.microsoft.com/office/drawing/2014/main" id="{BB459788-0671-D4BA-B6DB-A3544D24EA92}"/>
              </a:ext>
            </a:extLst>
          </p:cNvPr>
          <p:cNvSpPr/>
          <p:nvPr/>
        </p:nvSpPr>
        <p:spPr>
          <a:xfrm>
            <a:off x="902765" y="3422925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7" name="object 62">
            <a:extLst>
              <a:ext uri="{FF2B5EF4-FFF2-40B4-BE49-F238E27FC236}">
                <a16:creationId xmlns:a16="http://schemas.microsoft.com/office/drawing/2014/main" id="{13E0425E-CEDF-CBC4-B34B-0CC3951920EA}"/>
              </a:ext>
            </a:extLst>
          </p:cNvPr>
          <p:cNvSpPr/>
          <p:nvPr/>
        </p:nvSpPr>
        <p:spPr>
          <a:xfrm>
            <a:off x="1747061" y="3983757"/>
            <a:ext cx="76200" cy="986155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8" name="object 63">
            <a:extLst>
              <a:ext uri="{FF2B5EF4-FFF2-40B4-BE49-F238E27FC236}">
                <a16:creationId xmlns:a16="http://schemas.microsoft.com/office/drawing/2014/main" id="{FDE45797-C0E3-ACE0-F66B-057BDEDB9070}"/>
              </a:ext>
            </a:extLst>
          </p:cNvPr>
          <p:cNvSpPr txBox="1"/>
          <p:nvPr/>
        </p:nvSpPr>
        <p:spPr>
          <a:xfrm>
            <a:off x="1091131" y="4210910"/>
            <a:ext cx="577850" cy="4540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latin typeface="Calibri"/>
                <a:cs typeface="Calibri"/>
              </a:rPr>
              <a:t>h</a:t>
            </a:r>
            <a:endParaRPr sz="1400">
              <a:latin typeface="Calibri"/>
              <a:cs typeface="Calibri"/>
            </a:endParaRP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latin typeface="Calibri"/>
                <a:cs typeface="Calibri"/>
              </a:rPr>
              <a:t>(h</a:t>
            </a:r>
            <a:r>
              <a:rPr sz="1400" dirty="0">
                <a:latin typeface="Calibri"/>
                <a:cs typeface="Calibri"/>
              </a:rPr>
              <a:t>eig</a:t>
            </a:r>
            <a:r>
              <a:rPr sz="1400" spc="-25" dirty="0">
                <a:latin typeface="Calibri"/>
                <a:cs typeface="Calibri"/>
              </a:rPr>
              <a:t>h</a:t>
            </a:r>
            <a:r>
              <a:rPr sz="1400" spc="-5" dirty="0">
                <a:latin typeface="Calibri"/>
                <a:cs typeface="Calibri"/>
              </a:rPr>
              <a:t>t</a:t>
            </a:r>
            <a:r>
              <a:rPr sz="1400" dirty="0">
                <a:latin typeface="Calibri"/>
                <a:cs typeface="Calibri"/>
              </a:rPr>
              <a:t>)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99" name="object 64">
            <a:extLst>
              <a:ext uri="{FF2B5EF4-FFF2-40B4-BE49-F238E27FC236}">
                <a16:creationId xmlns:a16="http://schemas.microsoft.com/office/drawing/2014/main" id="{ABAAA5DD-56CA-BF94-2180-F0866658B6B3}"/>
              </a:ext>
            </a:extLst>
          </p:cNvPr>
          <p:cNvSpPr/>
          <p:nvPr/>
        </p:nvSpPr>
        <p:spPr>
          <a:xfrm>
            <a:off x="1984805" y="3773445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0" name="object 65">
            <a:extLst>
              <a:ext uri="{FF2B5EF4-FFF2-40B4-BE49-F238E27FC236}">
                <a16:creationId xmlns:a16="http://schemas.microsoft.com/office/drawing/2014/main" id="{A1EF013C-5123-D9A7-DC76-FEFD731E96E2}"/>
              </a:ext>
            </a:extLst>
          </p:cNvPr>
          <p:cNvSpPr txBox="1"/>
          <p:nvPr/>
        </p:nvSpPr>
        <p:spPr>
          <a:xfrm>
            <a:off x="2504743" y="3532730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01" name="object 73">
            <a:extLst>
              <a:ext uri="{FF2B5EF4-FFF2-40B4-BE49-F238E27FC236}">
                <a16:creationId xmlns:a16="http://schemas.microsoft.com/office/drawing/2014/main" id="{4C5C0871-D9B5-E642-7661-FFBCAD75720B}"/>
              </a:ext>
            </a:extLst>
          </p:cNvPr>
          <p:cNvSpPr txBox="1"/>
          <p:nvPr/>
        </p:nvSpPr>
        <p:spPr>
          <a:xfrm>
            <a:off x="1984805" y="3983757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02" name="object 74">
            <a:extLst>
              <a:ext uri="{FF2B5EF4-FFF2-40B4-BE49-F238E27FC236}">
                <a16:creationId xmlns:a16="http://schemas.microsoft.com/office/drawing/2014/main" id="{10CC4DBA-05F4-4CDC-BA0E-6200AF622CA9}"/>
              </a:ext>
            </a:extLst>
          </p:cNvPr>
          <p:cNvSpPr txBox="1"/>
          <p:nvPr/>
        </p:nvSpPr>
        <p:spPr>
          <a:xfrm>
            <a:off x="3983988" y="4338253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1" name="object 7">
            <a:extLst>
              <a:ext uri="{FF2B5EF4-FFF2-40B4-BE49-F238E27FC236}">
                <a16:creationId xmlns:a16="http://schemas.microsoft.com/office/drawing/2014/main" id="{06801468-6F27-A16A-64E3-D7AD4B6B6B96}"/>
              </a:ext>
            </a:extLst>
          </p:cNvPr>
          <p:cNvSpPr/>
          <p:nvPr/>
        </p:nvSpPr>
        <p:spPr>
          <a:xfrm>
            <a:off x="7391400" y="3422925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4" name="object 64">
            <a:extLst>
              <a:ext uri="{FF2B5EF4-FFF2-40B4-BE49-F238E27FC236}">
                <a16:creationId xmlns:a16="http://schemas.microsoft.com/office/drawing/2014/main" id="{D9E5D738-CA47-1898-E0D8-DFBC514F5A50}"/>
              </a:ext>
            </a:extLst>
          </p:cNvPr>
          <p:cNvSpPr/>
          <p:nvPr/>
        </p:nvSpPr>
        <p:spPr>
          <a:xfrm>
            <a:off x="8473440" y="3773445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5" name="object 65">
            <a:extLst>
              <a:ext uri="{FF2B5EF4-FFF2-40B4-BE49-F238E27FC236}">
                <a16:creationId xmlns:a16="http://schemas.microsoft.com/office/drawing/2014/main" id="{74A4CAE1-BC33-1BCD-6F24-54F1DFA8AEDB}"/>
              </a:ext>
            </a:extLst>
          </p:cNvPr>
          <p:cNvSpPr txBox="1"/>
          <p:nvPr/>
        </p:nvSpPr>
        <p:spPr>
          <a:xfrm>
            <a:off x="8993378" y="3532730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16" name="object 73">
            <a:extLst>
              <a:ext uri="{FF2B5EF4-FFF2-40B4-BE49-F238E27FC236}">
                <a16:creationId xmlns:a16="http://schemas.microsoft.com/office/drawing/2014/main" id="{CC9D2269-0CA8-143F-4E45-F3AF594A2ED3}"/>
              </a:ext>
            </a:extLst>
          </p:cNvPr>
          <p:cNvSpPr txBox="1"/>
          <p:nvPr/>
        </p:nvSpPr>
        <p:spPr>
          <a:xfrm>
            <a:off x="8473440" y="3983757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7" name="object 74">
            <a:extLst>
              <a:ext uri="{FF2B5EF4-FFF2-40B4-BE49-F238E27FC236}">
                <a16:creationId xmlns:a16="http://schemas.microsoft.com/office/drawing/2014/main" id="{8A3332FF-25D4-1955-323F-BBD1D30324AC}"/>
              </a:ext>
            </a:extLst>
          </p:cNvPr>
          <p:cNvSpPr txBox="1"/>
          <p:nvPr/>
        </p:nvSpPr>
        <p:spPr>
          <a:xfrm>
            <a:off x="10472623" y="4338253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20" name="object 73">
            <a:extLst>
              <a:ext uri="{FF2B5EF4-FFF2-40B4-BE49-F238E27FC236}">
                <a16:creationId xmlns:a16="http://schemas.microsoft.com/office/drawing/2014/main" id="{C699977C-9138-F9B9-E43D-0CCB01AEB75F}"/>
              </a:ext>
            </a:extLst>
          </p:cNvPr>
          <p:cNvSpPr txBox="1"/>
          <p:nvPr/>
        </p:nvSpPr>
        <p:spPr>
          <a:xfrm>
            <a:off x="7391400" y="4690819"/>
            <a:ext cx="3906179" cy="610424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lang="es-ES" sz="2350" dirty="0">
              <a:latin typeface="Times New Roman"/>
              <a:cs typeface="Times New Roman"/>
            </a:endParaRPr>
          </a:p>
          <a:p>
            <a:pPr marL="18415">
              <a:lnSpc>
                <a:spcPct val="100000"/>
              </a:lnSpc>
            </a:pPr>
            <a:r>
              <a:rPr lang="es-ES" sz="1600" b="1" spc="-10" dirty="0" err="1">
                <a:latin typeface="Calibri"/>
                <a:cs typeface="Calibri"/>
              </a:rPr>
              <a:t>Slab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2" name="object 62">
            <a:extLst>
              <a:ext uri="{FF2B5EF4-FFF2-40B4-BE49-F238E27FC236}">
                <a16:creationId xmlns:a16="http://schemas.microsoft.com/office/drawing/2014/main" id="{04561701-4B4F-F208-98F6-2DAB5C1138D3}"/>
              </a:ext>
            </a:extLst>
          </p:cNvPr>
          <p:cNvSpPr/>
          <p:nvPr/>
        </p:nvSpPr>
        <p:spPr>
          <a:xfrm>
            <a:off x="8575910" y="3994221"/>
            <a:ext cx="56259" cy="694989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1" name="object 62">
            <a:extLst>
              <a:ext uri="{FF2B5EF4-FFF2-40B4-BE49-F238E27FC236}">
                <a16:creationId xmlns:a16="http://schemas.microsoft.com/office/drawing/2014/main" id="{CCA3B0D6-0C9E-B4A6-FA43-1AB5F1821674}"/>
              </a:ext>
            </a:extLst>
          </p:cNvPr>
          <p:cNvSpPr/>
          <p:nvPr/>
        </p:nvSpPr>
        <p:spPr>
          <a:xfrm>
            <a:off x="8233207" y="4689210"/>
            <a:ext cx="55008" cy="613272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3" name="object 63">
            <a:extLst>
              <a:ext uri="{FF2B5EF4-FFF2-40B4-BE49-F238E27FC236}">
                <a16:creationId xmlns:a16="http://schemas.microsoft.com/office/drawing/2014/main" id="{6394166D-0522-24AD-E666-39FE8A3FDC24}"/>
              </a:ext>
            </a:extLst>
          </p:cNvPr>
          <p:cNvSpPr txBox="1"/>
          <p:nvPr/>
        </p:nvSpPr>
        <p:spPr>
          <a:xfrm>
            <a:off x="8351994" y="4887127"/>
            <a:ext cx="674053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dirty="0" err="1">
                <a:latin typeface="Calibri"/>
                <a:cs typeface="Calibri"/>
              </a:rPr>
              <a:t>h_slab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22" name="object 63">
            <a:extLst>
              <a:ext uri="{FF2B5EF4-FFF2-40B4-BE49-F238E27FC236}">
                <a16:creationId xmlns:a16="http://schemas.microsoft.com/office/drawing/2014/main" id="{B589EB7D-B26E-4239-A5C2-F96DBBE82162}"/>
              </a:ext>
            </a:extLst>
          </p:cNvPr>
          <p:cNvSpPr txBox="1"/>
          <p:nvPr/>
        </p:nvSpPr>
        <p:spPr>
          <a:xfrm>
            <a:off x="8706378" y="3990085"/>
            <a:ext cx="138017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spc="-10" dirty="0" err="1">
                <a:latin typeface="Calibri"/>
                <a:cs typeface="Calibri"/>
              </a:rPr>
              <a:t>h_core</a:t>
            </a:r>
            <a:r>
              <a:rPr lang="es-ES" sz="1400" spc="-10" dirty="0">
                <a:latin typeface="Calibri"/>
                <a:cs typeface="Calibri"/>
              </a:rPr>
              <a:t> 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7D9AFBE-EF33-9078-9CE3-5C8B079B0C36}"/>
              </a:ext>
            </a:extLst>
          </p:cNvPr>
          <p:cNvSpPr txBox="1"/>
          <p:nvPr/>
        </p:nvSpPr>
        <p:spPr>
          <a:xfrm>
            <a:off x="9306491" y="5257071"/>
            <a:ext cx="19805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shallow</a:t>
            </a:r>
            <a:r>
              <a:rPr lang="en-US" dirty="0"/>
              <a:t> waveguide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7336B5D8-2D70-3E7A-336D-AF55EC49DEB8}"/>
              </a:ext>
            </a:extLst>
          </p:cNvPr>
          <p:cNvSpPr txBox="1"/>
          <p:nvPr/>
        </p:nvSpPr>
        <p:spPr>
          <a:xfrm>
            <a:off x="2969899" y="5257071"/>
            <a:ext cx="2157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</p:txBody>
      </p:sp>
    </p:spTree>
    <p:extLst>
      <p:ext uri="{BB962C8B-B14F-4D97-AF65-F5344CB8AC3E}">
        <p14:creationId xmlns:p14="http://schemas.microsoft.com/office/powerpoint/2010/main" val="4739228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0DA9C-35AF-A1D7-01E5-BFD9DEF15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471E1424-6C4B-2D9A-1352-30AFB987AD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Convergence tests</a:t>
            </a:r>
            <a:br>
              <a:rPr lang="en-US" sz="2500" dirty="0"/>
            </a:br>
            <a:r>
              <a:rPr lang="nl-NL" b="0" dirty="0"/>
              <a:t>DE waveguide, w = 1.2 µm, neff_TE0, wvl 1.55 µm. 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9DCFD462-4416-65F8-5696-B0135B6327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293F5C1D-AFFF-4EA6-CA59-6503F34EBF5F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3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4F13AC1-9668-7266-DF5B-D7CE084AB044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067C6D40-33EE-D9BE-7F58-8D96221D0D59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C814CDD6-2B59-8488-4EB8-82801B4D3F22}"/>
              </a:ext>
            </a:extLst>
          </p:cNvPr>
          <p:cNvSpPr txBox="1"/>
          <p:nvPr/>
        </p:nvSpPr>
        <p:spPr>
          <a:xfrm>
            <a:off x="609441" y="4860334"/>
            <a:ext cx="11199971" cy="156966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Cogeremos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valores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20 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grid_resolution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y 1.5 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max_grid_scaling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Los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mínimos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valores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conseguimos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un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comportamiento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real del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neff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reducimos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coste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procesamiento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029F2FF9-FEB4-7AA3-B3B4-EFA9CFA0E230}"/>
              </a:ext>
            </a:extLst>
          </p:cNvPr>
          <p:cNvSpPr/>
          <p:nvPr/>
        </p:nvSpPr>
        <p:spPr>
          <a:xfrm>
            <a:off x="6322853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Imagen 6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1DE709C5-C821-64C7-A117-B2AF8C8D90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2806" y="1575314"/>
            <a:ext cx="4379988" cy="3138554"/>
          </a:xfrm>
          <a:prstGeom prst="rect">
            <a:avLst/>
          </a:prstGeom>
        </p:spPr>
      </p:pic>
      <p:pic>
        <p:nvPicPr>
          <p:cNvPr id="11" name="Imagen 10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8CA50C33-FDA8-7D48-D49B-9C454D67A9D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3795" y="1569783"/>
            <a:ext cx="4350017" cy="3138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05013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0AC3D-36B7-D786-3825-B4DD6EADD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6AA2E789-F7AE-F068-274C-E0F13A22DB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 – Width dependence</a:t>
            </a:r>
            <a:br>
              <a:rPr lang="es-ES" sz="2500" spc="-5" dirty="0">
                <a:latin typeface="+mj-lt"/>
                <a:cs typeface="Lucida Sans"/>
              </a:rPr>
            </a:br>
            <a:r>
              <a:rPr lang="en-US" b="0" dirty="0"/>
              <a:t>Width 0.6 - 1.6 µm (step 0.1 µm) – Wavelength 1.55 µm 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3AEAD01B-7604-8009-5694-A556497AEF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696E3846-1BD2-4F23-48AA-C7AF2A1EE6EB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4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32C0E2B-75B6-4768-A4C7-F165A264DA0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 dirty="0"/>
              <a:t>LAB 0.1. MODESOLVER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82A62DD6-5488-72A1-9926-0CAEE59089A9}"/>
              </a:ext>
            </a:extLst>
          </p:cNvPr>
          <p:cNvSpPr txBox="1"/>
          <p:nvPr/>
        </p:nvSpPr>
        <p:spPr>
          <a:xfrm>
            <a:off x="609441" y="4860334"/>
            <a:ext cx="11199971" cy="1384995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Conforme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aumentando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ancho,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indice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efectivo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aumenta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lo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tiene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sentido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aumentar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core. En un primer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momento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propagan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primer modo TE, 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primer modo TM. Contra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aumentando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ancho,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comienza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propagar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segundo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modo TE, y al final 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gráfica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segundo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modo TM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está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punto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propagarse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BC7D187-267A-ADD4-764C-D3820B8ED302}"/>
              </a:ext>
            </a:extLst>
          </p:cNvPr>
          <p:cNvSpPr/>
          <p:nvPr/>
        </p:nvSpPr>
        <p:spPr>
          <a:xfrm>
            <a:off x="609441" y="1418373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n 4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ABC0061E-9441-FD19-70EC-11358BAD05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79777" y="1549823"/>
            <a:ext cx="5432446" cy="3162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01174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DA0F9-B230-D9FC-3CE7-03BD08CF5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394400B4-EE16-8E85-AB54-E82FE3B29345}"/>
                  </a:ext>
                </a:extLst>
              </p:cNvPr>
              <p:cNvSpPr txBox="1">
                <a:spLocks noGrp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0"/>
                  </a:spcBef>
                </a:pPr>
                <a:r>
                  <a:rPr lang="en-US" sz="2500" dirty="0"/>
                  <a:t>Learning outcome #3 – Waveguide compact model</a:t>
                </a:r>
                <a:br>
                  <a:rPr lang="en-US" sz="2500" spc="-5" dirty="0">
                    <a:latin typeface="+mj-lt"/>
                    <a:cs typeface="Lucida Sans"/>
                  </a:rPr>
                </a:br>
                <a:r>
                  <a:rPr lang="en-US" b="0" dirty="0"/>
                  <a:t>Let’s model the waveguide using a second order polynomial: </a:t>
                </a:r>
                <a:br>
                  <a:rPr lang="en-US" b="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𝑒𝑓𝑓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b="0" dirty="0"/>
                </a:br>
                <a:endParaRPr lang="en-US" sz="2500" b="0" dirty="0">
                  <a:latin typeface="+mj-lt"/>
                  <a:cs typeface="Lucida Sans"/>
                </a:endParaRPr>
              </a:p>
            </p:txBody>
          </p:sp>
        </mc:Choice>
        <mc:Fallback xmlns="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394400B4-EE16-8E85-AB54-E82FE3B29345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  <a:blipFill>
                <a:blip r:embed="rId3"/>
                <a:stretch>
                  <a:fillRect l="-1664" t="-7386" b="-4545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3" name="Gráfico 82">
            <a:extLst>
              <a:ext uri="{FF2B5EF4-FFF2-40B4-BE49-F238E27FC236}">
                <a16:creationId xmlns:a16="http://schemas.microsoft.com/office/drawing/2014/main" id="{4D53B68D-17ED-7EFB-F2B4-10DA7A772E1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09AB8697-C1EE-6E9A-6550-ACA2C3AE663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70D4A6C-5B37-EDF5-6242-74B16127E96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A440F587-93A3-E474-C0B0-883BB9DAFD85}"/>
                  </a:ext>
                </a:extLst>
              </p:cNvPr>
              <p:cNvSpPr txBox="1"/>
              <p:nvPr/>
            </p:nvSpPr>
            <p:spPr>
              <a:xfrm>
                <a:off x="609441" y="4860334"/>
                <a:ext cx="11198542" cy="136191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8575">
                <a:solidFill>
                  <a:srgbClr val="E0700D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Find the second-degree polynomial coefficients and relate them with the group index and the dispersion parameter.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s-ES" sz="12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𝑒𝑓𝑓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𝑔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e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𝐷</m:t>
                            </m:r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=−</m:t>
                            </m:r>
                            <m:f>
                              <m:f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𝑐</m:t>
                                </m:r>
                              </m:den>
                            </m:f>
                            <m:d>
                              <m:dPr>
                                <m:begChr m:val="["/>
                                <m:endChr m:val="]"/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𝑚</m:t>
                                    </m:r>
                                  </m:den>
                                </m:f>
                              </m:e>
                            </m:d>
                          </m:e>
                        </m:eqArr>
                      </m:e>
                    </m:d>
                  </m:oMath>
                </a14:m>
                <a:endParaRPr lang="es-ES" sz="12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</a:p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Comment on the results found for the TE0 and TM0 for both deep and shallow waveguides. </a:t>
                </a:r>
              </a:p>
              <a:p>
                <a:pPr algn="just"/>
                <a:endParaRPr lang="en-US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A440F587-93A3-E474-C0B0-883BB9DAFD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41" y="4860334"/>
                <a:ext cx="11198542" cy="136191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rgbClr val="E0700D"/>
                </a:solidFill>
              </a:ln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ángulo 4">
            <a:extLst>
              <a:ext uri="{FF2B5EF4-FFF2-40B4-BE49-F238E27FC236}">
                <a16:creationId xmlns:a16="http://schemas.microsoft.com/office/drawing/2014/main" id="{A6B92C76-6772-2E00-346F-532321092C04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2886628E-6E58-1F7E-B6C6-432B9A228397}"/>
              </a:ext>
            </a:extLst>
          </p:cNvPr>
          <p:cNvSpPr/>
          <p:nvPr/>
        </p:nvSpPr>
        <p:spPr>
          <a:xfrm>
            <a:off x="6321424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C59B6428-4395-242F-54D8-A9FC610F2D7A}"/>
                  </a:ext>
                </a:extLst>
              </p:cNvPr>
              <p:cNvSpPr txBox="1"/>
              <p:nvPr/>
            </p:nvSpPr>
            <p:spPr>
              <a:xfrm>
                <a:off x="609440" y="2709096"/>
                <a:ext cx="548655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deep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b="1" dirty="0"/>
                  <a:t>neff_TE0 vs </a:t>
                </a:r>
                <a14:m>
                  <m:oMath xmlns:m="http://schemas.openxmlformats.org/officeDocument/2006/math">
                    <m:r>
                      <a:rPr lang="es-ES" b="1" i="1" smtClean="0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 </a:t>
                </a:r>
              </a:p>
              <a:p>
                <a:pPr algn="ctr"/>
                <a:r>
                  <a:rPr lang="en-US" dirty="0"/>
                  <a:t>&amp; </a:t>
                </a:r>
                <a:r>
                  <a:rPr lang="en-US" b="1" dirty="0"/>
                  <a:t>neff_TM0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</a:t>
                </a:r>
              </a:p>
            </p:txBody>
          </p:sp>
        </mc:Choice>
        <mc:Fallback xmlns="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C59B6428-4395-242F-54D8-A9FC610F2D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40" y="2709096"/>
                <a:ext cx="5486559" cy="1200329"/>
              </a:xfrm>
              <a:prstGeom prst="rect">
                <a:avLst/>
              </a:prstGeom>
              <a:blipFill>
                <a:blip r:embed="rId7"/>
                <a:stretch>
                  <a:fillRect t="-2538" r="-556" b="-7107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9320AF78-1FC6-19F4-8E0B-8A414F20C6DE}"/>
                  </a:ext>
                </a:extLst>
              </p:cNvPr>
              <p:cNvSpPr txBox="1"/>
              <p:nvPr/>
            </p:nvSpPr>
            <p:spPr>
              <a:xfrm>
                <a:off x="6321421" y="2709096"/>
                <a:ext cx="548655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shallow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b="1" dirty="0"/>
                  <a:t>neff_TE0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 </a:t>
                </a:r>
              </a:p>
              <a:p>
                <a:pPr algn="ctr"/>
                <a:r>
                  <a:rPr lang="en-US" dirty="0"/>
                  <a:t>&amp; </a:t>
                </a:r>
                <a:r>
                  <a:rPr lang="en-US" b="1" dirty="0"/>
                  <a:t>neff_TM0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</a:t>
                </a:r>
              </a:p>
            </p:txBody>
          </p:sp>
        </mc:Choice>
        <mc:Fallback xmlns="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9320AF78-1FC6-19F4-8E0B-8A414F20C6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1421" y="2709096"/>
                <a:ext cx="5486559" cy="1200329"/>
              </a:xfrm>
              <a:prstGeom prst="rect">
                <a:avLst/>
              </a:prstGeom>
              <a:blipFill>
                <a:blip r:embed="rId8"/>
                <a:stretch>
                  <a:fillRect t="-2538" r="-556" b="-7107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uadroTexto 7">
            <a:extLst>
              <a:ext uri="{FF2B5EF4-FFF2-40B4-BE49-F238E27FC236}">
                <a16:creationId xmlns:a16="http://schemas.microsoft.com/office/drawing/2014/main" id="{0F38E924-A0E7-A039-C837-916BA77FE89B}"/>
              </a:ext>
            </a:extLst>
          </p:cNvPr>
          <p:cNvSpPr txBox="1"/>
          <p:nvPr/>
        </p:nvSpPr>
        <p:spPr>
          <a:xfrm>
            <a:off x="6347361" y="4498712"/>
            <a:ext cx="5486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slab: 150nm</a:t>
            </a: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0544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85A4A-0646-8136-CC64-5591A7422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F6172D6C-2BCE-F04B-210E-42A257F5AD01}"/>
                  </a:ext>
                </a:extLst>
              </p:cNvPr>
              <p:cNvSpPr txBox="1">
                <a:spLocks noGrp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0"/>
                  </a:spcBef>
                </a:pPr>
                <a:r>
                  <a:rPr lang="en-US" sz="2500" dirty="0"/>
                  <a:t>Learning outcome #3 – Waveguide compact model</a:t>
                </a:r>
                <a:br>
                  <a:rPr lang="en-US" sz="2500" spc="-5" dirty="0">
                    <a:latin typeface="+mj-lt"/>
                    <a:cs typeface="Lucida Sans"/>
                  </a:rPr>
                </a:br>
                <a:r>
                  <a:rPr lang="en-US" b="0" dirty="0"/>
                  <a:t>Let’s model the waveguide using a second order polynomial: </a:t>
                </a:r>
                <a:br>
                  <a:rPr lang="en-US" b="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𝑒𝑓𝑓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b="0" dirty="0"/>
                </a:br>
                <a:endParaRPr lang="en-US" sz="2500" b="0" dirty="0">
                  <a:latin typeface="+mj-lt"/>
                  <a:cs typeface="Lucida Sans"/>
                </a:endParaRPr>
              </a:p>
            </p:txBody>
          </p:sp>
        </mc:Choice>
        <mc:Fallback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F6172D6C-2BCE-F04B-210E-42A257F5AD01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  <a:blipFill>
                <a:blip r:embed="rId3"/>
                <a:stretch>
                  <a:fillRect l="-1664" t="-7386" b="-4545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3" name="Gráfico 82">
            <a:extLst>
              <a:ext uri="{FF2B5EF4-FFF2-40B4-BE49-F238E27FC236}">
                <a16:creationId xmlns:a16="http://schemas.microsoft.com/office/drawing/2014/main" id="{791888BC-48CA-F3FF-7B65-6FDF152968F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D3AB2466-76FA-0126-87B1-5C881961CB23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8FC88380-4949-B735-5200-7638A2CDAE0F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3F8CD031-4977-656C-C698-D277022E69BE}"/>
                  </a:ext>
                </a:extLst>
              </p:cNvPr>
              <p:cNvSpPr txBox="1"/>
              <p:nvPr/>
            </p:nvSpPr>
            <p:spPr>
              <a:xfrm>
                <a:off x="609441" y="4860334"/>
                <a:ext cx="11198542" cy="136191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8575">
                <a:solidFill>
                  <a:srgbClr val="E0700D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Find the second-degree polynomial coefficients and relate them with the group index and the dispersion parameter.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s-ES" sz="12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𝑒𝑓𝑓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𝑔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e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𝐷</m:t>
                            </m:r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=−</m:t>
                            </m:r>
                            <m:f>
                              <m:f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𝑐</m:t>
                                </m:r>
                              </m:den>
                            </m:f>
                            <m:d>
                              <m:dPr>
                                <m:begChr m:val="["/>
                                <m:endChr m:val="]"/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𝑚</m:t>
                                    </m:r>
                                  </m:den>
                                </m:f>
                              </m:e>
                            </m:d>
                          </m:e>
                        </m:eqArr>
                      </m:e>
                    </m:d>
                  </m:oMath>
                </a14:m>
                <a:endParaRPr lang="es-ES" sz="12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</a:p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Comment on the results found for the TE0 and TM0 for both deep and shallow waveguides. </a:t>
                </a:r>
              </a:p>
              <a:p>
                <a:pPr algn="just"/>
                <a:endParaRPr lang="en-US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3F8CD031-4977-656C-C698-D277022E69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41" y="4860334"/>
                <a:ext cx="11198542" cy="136191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rgbClr val="E0700D"/>
                </a:solidFill>
              </a:ln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ángulo 4">
            <a:extLst>
              <a:ext uri="{FF2B5EF4-FFF2-40B4-BE49-F238E27FC236}">
                <a16:creationId xmlns:a16="http://schemas.microsoft.com/office/drawing/2014/main" id="{925F3DDB-1DC8-F60B-88FC-229E773D2BFF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5CB64E13-5A61-5A7E-E992-86FE047F0C99}"/>
              </a:ext>
            </a:extLst>
          </p:cNvPr>
          <p:cNvSpPr/>
          <p:nvPr/>
        </p:nvSpPr>
        <p:spPr>
          <a:xfrm>
            <a:off x="6321424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606F6949-0294-249B-F962-A4A00DB9CB4D}"/>
                  </a:ext>
                </a:extLst>
              </p:cNvPr>
              <p:cNvSpPr txBox="1"/>
              <p:nvPr/>
            </p:nvSpPr>
            <p:spPr>
              <a:xfrm>
                <a:off x="609440" y="2709096"/>
                <a:ext cx="548655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deep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b="1" dirty="0"/>
                  <a:t>neff_TE0 vs </a:t>
                </a:r>
                <a14:m>
                  <m:oMath xmlns:m="http://schemas.openxmlformats.org/officeDocument/2006/math">
                    <m:r>
                      <a:rPr lang="es-ES" b="1" i="1" smtClean="0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 </a:t>
                </a:r>
              </a:p>
              <a:p>
                <a:pPr algn="ctr"/>
                <a:r>
                  <a:rPr lang="en-US" dirty="0"/>
                  <a:t>&amp; </a:t>
                </a:r>
                <a:r>
                  <a:rPr lang="en-US" b="1" dirty="0"/>
                  <a:t>neff_TM0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</a:t>
                </a:r>
              </a:p>
            </p:txBody>
          </p:sp>
        </mc:Choice>
        <mc:Fallback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606F6949-0294-249B-F962-A4A00DB9CB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40" y="2709096"/>
                <a:ext cx="5486559" cy="1200329"/>
              </a:xfrm>
              <a:prstGeom prst="rect">
                <a:avLst/>
              </a:prstGeom>
              <a:blipFill>
                <a:blip r:embed="rId7"/>
                <a:stretch>
                  <a:fillRect t="-2538" r="-556" b="-7107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EC528A26-7560-8C92-F883-C08EDFCA983B}"/>
                  </a:ext>
                </a:extLst>
              </p:cNvPr>
              <p:cNvSpPr txBox="1"/>
              <p:nvPr/>
            </p:nvSpPr>
            <p:spPr>
              <a:xfrm>
                <a:off x="6321421" y="2709096"/>
                <a:ext cx="548655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shallow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b="1" dirty="0"/>
                  <a:t>neff_TE0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 </a:t>
                </a:r>
              </a:p>
              <a:p>
                <a:pPr algn="ctr"/>
                <a:r>
                  <a:rPr lang="en-US" dirty="0"/>
                  <a:t>&amp; </a:t>
                </a:r>
                <a:r>
                  <a:rPr lang="en-US" b="1" dirty="0"/>
                  <a:t>neff_TM0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</a:t>
                </a:r>
              </a:p>
            </p:txBody>
          </p:sp>
        </mc:Choice>
        <mc:Fallback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EC528A26-7560-8C92-F883-C08EDFCA98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1421" y="2709096"/>
                <a:ext cx="5486559" cy="1200329"/>
              </a:xfrm>
              <a:prstGeom prst="rect">
                <a:avLst/>
              </a:prstGeom>
              <a:blipFill>
                <a:blip r:embed="rId8"/>
                <a:stretch>
                  <a:fillRect t="-2538" r="-556" b="-7107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uadroTexto 7">
            <a:extLst>
              <a:ext uri="{FF2B5EF4-FFF2-40B4-BE49-F238E27FC236}">
                <a16:creationId xmlns:a16="http://schemas.microsoft.com/office/drawing/2014/main" id="{1169BFB7-D5FA-3032-B1CB-E96DCC13EA3F}"/>
              </a:ext>
            </a:extLst>
          </p:cNvPr>
          <p:cNvSpPr txBox="1"/>
          <p:nvPr/>
        </p:nvSpPr>
        <p:spPr>
          <a:xfrm>
            <a:off x="6347361" y="4498712"/>
            <a:ext cx="5486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slab: 150nm</a:t>
            </a: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40051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1923DC-0B30-4893-E5E7-3C333FC2C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1707BC50-15B7-C1CE-047D-D079BF514EB8}"/>
                  </a:ext>
                </a:extLst>
              </p:cNvPr>
              <p:cNvSpPr txBox="1">
                <a:spLocks noGrp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0"/>
                  </a:spcBef>
                </a:pPr>
                <a:r>
                  <a:rPr lang="en-US" sz="2500" dirty="0"/>
                  <a:t>Learning outcome #3 – Deep Waveguide TE0</a:t>
                </a:r>
                <a:br>
                  <a:rPr lang="en-US" sz="2500" spc="-5" dirty="0">
                    <a:latin typeface="+mj-lt"/>
                    <a:cs typeface="Lucida Sans"/>
                  </a:rPr>
                </a:br>
                <a:r>
                  <a:rPr lang="en-US" b="0" dirty="0"/>
                  <a:t>Let’s model the waveguide using a second order polynomial: </a:t>
                </a:r>
                <a:br>
                  <a:rPr lang="en-US" b="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𝑒𝑓𝑓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b="0" dirty="0"/>
                </a:br>
                <a:endParaRPr lang="en-US" sz="2500" b="0" dirty="0">
                  <a:latin typeface="+mj-lt"/>
                  <a:cs typeface="Lucida Sans"/>
                </a:endParaRPr>
              </a:p>
            </p:txBody>
          </p:sp>
        </mc:Choice>
        <mc:Fallback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1707BC50-15B7-C1CE-047D-D079BF514EB8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  <a:blipFill>
                <a:blip r:embed="rId3"/>
                <a:stretch>
                  <a:fillRect l="-1664" t="-7386" b="-4545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3" name="Gráfico 82">
            <a:extLst>
              <a:ext uri="{FF2B5EF4-FFF2-40B4-BE49-F238E27FC236}">
                <a16:creationId xmlns:a16="http://schemas.microsoft.com/office/drawing/2014/main" id="{978F9B12-A935-7576-6729-F56DAF54580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93216F80-73BF-31AD-F080-840CE3601BE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7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80EE3DD0-CB29-4E51-9518-C2F55DFA85D8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5407A297-61D7-B65A-C84F-2A408549CE13}"/>
              </a:ext>
            </a:extLst>
          </p:cNvPr>
          <p:cNvSpPr txBox="1"/>
          <p:nvPr/>
        </p:nvSpPr>
        <p:spPr>
          <a:xfrm>
            <a:off x="6347361" y="4498712"/>
            <a:ext cx="5486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slab: 150nm</a:t>
            </a: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Imagen 6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8A96A47C-95F2-05DF-CC26-8736DAB101B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1754767"/>
            <a:ext cx="4652268" cy="2455462"/>
          </a:xfrm>
          <a:prstGeom prst="rect">
            <a:avLst/>
          </a:prstGeom>
        </p:spPr>
      </p:pic>
      <p:pic>
        <p:nvPicPr>
          <p:cNvPr id="12" name="Imagen 11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12B9F43B-A359-2213-0207-AFCCE07F27A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67400" y="1613950"/>
            <a:ext cx="3581400" cy="2575908"/>
          </a:xfrm>
          <a:prstGeom prst="rect">
            <a:avLst/>
          </a:prstGeom>
        </p:spPr>
      </p:pic>
      <p:sp>
        <p:nvSpPr>
          <p:cNvPr id="14" name="CuadroTexto 13">
            <a:extLst>
              <a:ext uri="{FF2B5EF4-FFF2-40B4-BE49-F238E27FC236}">
                <a16:creationId xmlns:a16="http://schemas.microsoft.com/office/drawing/2014/main" id="{DEA3D7E7-3B16-C91E-8615-FA237F783940}"/>
              </a:ext>
            </a:extLst>
          </p:cNvPr>
          <p:cNvSpPr txBox="1"/>
          <p:nvPr/>
        </p:nvSpPr>
        <p:spPr>
          <a:xfrm>
            <a:off x="6496859" y="1373320"/>
            <a:ext cx="28032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Second order polynomial </a:t>
            </a:r>
            <a:endParaRPr lang="es-ES" dirty="0"/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17DAAB5D-0B86-21EC-F9E3-E3F132692AD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6800" y="4777905"/>
            <a:ext cx="9088118" cy="276264"/>
          </a:xfrm>
          <a:prstGeom prst="rect">
            <a:avLst/>
          </a:prstGeom>
        </p:spPr>
      </p:pic>
      <p:sp>
        <p:nvSpPr>
          <p:cNvPr id="19" name="CuadroTexto 18">
            <a:extLst>
              <a:ext uri="{FF2B5EF4-FFF2-40B4-BE49-F238E27FC236}">
                <a16:creationId xmlns:a16="http://schemas.microsoft.com/office/drawing/2014/main" id="{B9C35D4F-F771-9FA8-3C8E-7D0949B92A54}"/>
              </a:ext>
            </a:extLst>
          </p:cNvPr>
          <p:cNvSpPr txBox="1"/>
          <p:nvPr/>
        </p:nvSpPr>
        <p:spPr>
          <a:xfrm>
            <a:off x="3581400" y="4424667"/>
            <a:ext cx="7071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n3                           n2                                    n1                    </a:t>
            </a:r>
            <a:endParaRPr lang="es-E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B8045169-0E1F-FC05-99FF-EF9475F10D81}"/>
                  </a:ext>
                </a:extLst>
              </p:cNvPr>
              <p:cNvSpPr txBox="1"/>
              <p:nvPr/>
            </p:nvSpPr>
            <p:spPr>
              <a:xfrm>
                <a:off x="2057400" y="5151457"/>
                <a:ext cx="6126480" cy="11656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s-ES" sz="18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𝑒𝑓𝑓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𝑔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e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𝐷</m:t>
                            </m:r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=−</m:t>
                            </m:r>
                            <m:f>
                              <m:f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𝑐</m:t>
                                </m:r>
                              </m:den>
                            </m:f>
                            <m:d>
                              <m:dPr>
                                <m:begChr m:val="["/>
                                <m:endChr m:val="]"/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𝑚</m:t>
                                    </m:r>
                                  </m:den>
                                </m:f>
                              </m:e>
                            </m:d>
                          </m:e>
                        </m:eqArr>
                      </m:e>
                    </m:d>
                  </m:oMath>
                </a14:m>
                <a:endParaRPr lang="es-ES" dirty="0"/>
              </a:p>
            </p:txBody>
          </p:sp>
        </mc:Choice>
        <mc:Fallback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B8045169-0E1F-FC05-99FF-EF9475F10D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7400" y="5151457"/>
                <a:ext cx="6126480" cy="1165640"/>
              </a:xfrm>
              <a:prstGeom prst="rect">
                <a:avLst/>
              </a:prstGeom>
              <a:blipFill>
                <a:blip r:embed="rId9"/>
                <a:stretch>
                  <a:fillRect l="-896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222289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EBAB10-68A1-99E1-9456-C1E104322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61E96DEB-2E0E-FE4E-61B4-625582671BAA}"/>
                  </a:ext>
                </a:extLst>
              </p:cNvPr>
              <p:cNvSpPr txBox="1">
                <a:spLocks noGrp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0"/>
                  </a:spcBef>
                </a:pPr>
                <a:r>
                  <a:rPr lang="en-US" sz="2500" dirty="0"/>
                  <a:t>Learning outcome #3 – Deep Waveguide TE0</a:t>
                </a:r>
                <a:br>
                  <a:rPr lang="en-US" sz="2500" spc="-5" dirty="0">
                    <a:latin typeface="+mj-lt"/>
                    <a:cs typeface="Lucida Sans"/>
                  </a:rPr>
                </a:br>
                <a:r>
                  <a:rPr lang="en-US" b="0" dirty="0"/>
                  <a:t>Let’s model the waveguide using a second order polynomial: </a:t>
                </a:r>
                <a:br>
                  <a:rPr lang="en-US" b="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𝑒𝑓𝑓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b="0" dirty="0"/>
                </a:br>
                <a:endParaRPr lang="en-US" sz="2500" b="0" dirty="0">
                  <a:latin typeface="+mj-lt"/>
                  <a:cs typeface="Lucida Sans"/>
                </a:endParaRPr>
              </a:p>
            </p:txBody>
          </p:sp>
        </mc:Choice>
        <mc:Fallback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61E96DEB-2E0E-FE4E-61B4-625582671BAA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  <a:blipFill>
                <a:blip r:embed="rId3"/>
                <a:stretch>
                  <a:fillRect l="-1664" t="-7386" b="-4545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3" name="Gráfico 82">
            <a:extLst>
              <a:ext uri="{FF2B5EF4-FFF2-40B4-BE49-F238E27FC236}">
                <a16:creationId xmlns:a16="http://schemas.microsoft.com/office/drawing/2014/main" id="{BEF29DA2-0472-0B18-FC7B-75F5D306228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D1C5C9A1-8323-18A5-A48C-320FB72E908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8</a:t>
            </a:fld>
            <a:endParaRPr lang="es-E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2A9D8DDF-3839-F520-6427-48A4EF21104F}"/>
              </a:ext>
            </a:extLst>
          </p:cNvPr>
          <p:cNvSpPr txBox="1"/>
          <p:nvPr/>
        </p:nvSpPr>
        <p:spPr>
          <a:xfrm>
            <a:off x="6347361" y="4498712"/>
            <a:ext cx="5486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slab: 150nm</a:t>
            </a: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66D82502-78F9-BFC9-5442-D146B421FF3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1864803"/>
            <a:ext cx="9088118" cy="276264"/>
          </a:xfrm>
          <a:prstGeom prst="rect">
            <a:avLst/>
          </a:prstGeom>
        </p:spPr>
      </p:pic>
      <p:sp>
        <p:nvSpPr>
          <p:cNvPr id="19" name="CuadroTexto 18">
            <a:extLst>
              <a:ext uri="{FF2B5EF4-FFF2-40B4-BE49-F238E27FC236}">
                <a16:creationId xmlns:a16="http://schemas.microsoft.com/office/drawing/2014/main" id="{02FB20C1-8391-8ABC-A1CA-15A01263C9DF}"/>
              </a:ext>
            </a:extLst>
          </p:cNvPr>
          <p:cNvSpPr txBox="1"/>
          <p:nvPr/>
        </p:nvSpPr>
        <p:spPr>
          <a:xfrm>
            <a:off x="3429000" y="1511565"/>
            <a:ext cx="7071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n3                           n2                                    n1                    </a:t>
            </a:r>
            <a:endParaRPr lang="es-E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CCA3D770-E5AA-B98C-BAF6-195264C58881}"/>
                  </a:ext>
                </a:extLst>
              </p:cNvPr>
              <p:cNvSpPr txBox="1"/>
              <p:nvPr/>
            </p:nvSpPr>
            <p:spPr>
              <a:xfrm>
                <a:off x="939800" y="2295603"/>
                <a:ext cx="2489200" cy="11656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s-ES" sz="18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𝑒𝑓𝑓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𝑔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e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𝐷</m:t>
                            </m:r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=−</m:t>
                            </m:r>
                            <m:f>
                              <m:f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𝑐</m:t>
                                </m:r>
                              </m:den>
                            </m:f>
                            <m:d>
                              <m:dPr>
                                <m:begChr m:val="["/>
                                <m:endChr m:val="]"/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𝑚</m:t>
                                    </m:r>
                                  </m:den>
                                </m:f>
                              </m:e>
                            </m:d>
                          </m:e>
                        </m:eqArr>
                      </m:e>
                    </m:d>
                  </m:oMath>
                </a14:m>
                <a:endParaRPr lang="es-ES" dirty="0"/>
              </a:p>
            </p:txBody>
          </p:sp>
        </mc:Choice>
        <mc:Fallback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CCA3D770-E5AA-B98C-BAF6-195264C588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800" y="2295603"/>
                <a:ext cx="2489200" cy="1165640"/>
              </a:xfrm>
              <a:prstGeom prst="rect">
                <a:avLst/>
              </a:prstGeom>
              <a:blipFill>
                <a:blip r:embed="rId7"/>
                <a:stretch>
                  <a:fillRect l="-1956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CuadroTexto 5">
            <a:extLst>
              <a:ext uri="{FF2B5EF4-FFF2-40B4-BE49-F238E27FC236}">
                <a16:creationId xmlns:a16="http://schemas.microsoft.com/office/drawing/2014/main" id="{BCB18073-2694-7EFB-F94E-E7ED32E6B3FD}"/>
              </a:ext>
            </a:extLst>
          </p:cNvPr>
          <p:cNvSpPr txBox="1"/>
          <p:nvPr/>
        </p:nvSpPr>
        <p:spPr>
          <a:xfrm>
            <a:off x="3203766" y="2471214"/>
            <a:ext cx="612832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/>
              <a:t>El </a:t>
            </a:r>
            <a:r>
              <a:rPr lang="en-US" b="0" dirty="0" err="1"/>
              <a:t>término</a:t>
            </a:r>
            <a:r>
              <a:rPr lang="en-US" b="0" dirty="0"/>
              <a:t> n1 </a:t>
            </a:r>
            <a:r>
              <a:rPr lang="en-US" b="0" dirty="0" err="1"/>
              <a:t>hace</a:t>
            </a:r>
            <a:r>
              <a:rPr lang="en-US" b="0" dirty="0"/>
              <a:t> </a:t>
            </a:r>
            <a:r>
              <a:rPr lang="en-US" b="0" dirty="0" err="1"/>
              <a:t>referencia</a:t>
            </a:r>
            <a:r>
              <a:rPr lang="en-US" b="0" dirty="0"/>
              <a:t> al </a:t>
            </a:r>
            <a:r>
              <a:rPr lang="en-US" b="0" dirty="0" err="1"/>
              <a:t>indice</a:t>
            </a:r>
            <a:r>
              <a:rPr lang="en-US" b="0" dirty="0"/>
              <a:t> </a:t>
            </a:r>
            <a:r>
              <a:rPr lang="en-US" b="0" dirty="0" err="1"/>
              <a:t>efectivo</a:t>
            </a:r>
            <a:r>
              <a:rPr lang="en-US" b="0" dirty="0"/>
              <a:t> de la </a:t>
            </a:r>
            <a:r>
              <a:rPr lang="en-US" b="0" dirty="0" err="1"/>
              <a:t>longiutd</a:t>
            </a:r>
            <a:r>
              <a:rPr lang="en-US" b="0" dirty="0"/>
              <a:t> de </a:t>
            </a:r>
            <a:r>
              <a:rPr lang="en-US" b="0" dirty="0" err="1"/>
              <a:t>onda</a:t>
            </a:r>
            <a:r>
              <a:rPr lang="en-US" b="0" dirty="0"/>
              <a:t> de 1550nm.</a:t>
            </a:r>
          </a:p>
          <a:p>
            <a:r>
              <a:rPr lang="en-US" dirty="0"/>
              <a:t>Por </a:t>
            </a:r>
            <a:r>
              <a:rPr lang="en-US" dirty="0" err="1"/>
              <a:t>otro</a:t>
            </a:r>
            <a:r>
              <a:rPr lang="en-US" dirty="0"/>
              <a:t> </a:t>
            </a:r>
            <a:r>
              <a:rPr lang="en-US" dirty="0" err="1"/>
              <a:t>lado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segundo</a:t>
            </a:r>
            <a:r>
              <a:rPr lang="en-US" dirty="0"/>
              <a:t> </a:t>
            </a:r>
            <a:r>
              <a:rPr lang="en-US" dirty="0" err="1"/>
              <a:t>término</a:t>
            </a:r>
            <a:r>
              <a:rPr lang="en-US" dirty="0"/>
              <a:t> n2, es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nos</a:t>
            </a:r>
            <a:r>
              <a:rPr lang="en-US" dirty="0"/>
              <a:t> dice </a:t>
            </a:r>
            <a:r>
              <a:rPr lang="en-US" dirty="0" err="1"/>
              <a:t>si</a:t>
            </a:r>
            <a:r>
              <a:rPr lang="en-US" dirty="0"/>
              <a:t> varia </a:t>
            </a:r>
            <a:r>
              <a:rPr lang="en-US" dirty="0" err="1"/>
              <a:t>más</a:t>
            </a:r>
            <a:r>
              <a:rPr lang="en-US" dirty="0"/>
              <a:t> o </a:t>
            </a:r>
            <a:r>
              <a:rPr lang="en-US" dirty="0" err="1"/>
              <a:t>menos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índice</a:t>
            </a:r>
            <a:r>
              <a:rPr lang="en-US" dirty="0"/>
              <a:t> de </a:t>
            </a:r>
            <a:r>
              <a:rPr lang="en-US" dirty="0" err="1"/>
              <a:t>grupo</a:t>
            </a:r>
            <a:r>
              <a:rPr lang="en-US" dirty="0"/>
              <a:t>.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6711159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F7E1A-9A0F-A222-A06F-BEFDA9BD8B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B67515EB-A24D-5FAD-98A8-50400D406636}"/>
                  </a:ext>
                </a:extLst>
              </p:cNvPr>
              <p:cNvSpPr txBox="1">
                <a:spLocks noGrp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0"/>
                  </a:spcBef>
                </a:pPr>
                <a:r>
                  <a:rPr lang="en-US" sz="2500" dirty="0"/>
                  <a:t>Learning outcome #3 – Deep Waveguide TM0</a:t>
                </a:r>
                <a:br>
                  <a:rPr lang="en-US" sz="2500" spc="-5" dirty="0">
                    <a:latin typeface="+mj-lt"/>
                    <a:cs typeface="Lucida Sans"/>
                  </a:rPr>
                </a:br>
                <a:r>
                  <a:rPr lang="en-US" b="0" dirty="0"/>
                  <a:t>Let’s model the waveguide using a second order polynomial: </a:t>
                </a:r>
                <a:br>
                  <a:rPr lang="en-US" b="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𝑒𝑓𝑓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b="0" dirty="0"/>
                </a:br>
                <a:endParaRPr lang="en-US" sz="2500" b="0" dirty="0">
                  <a:latin typeface="+mj-lt"/>
                  <a:cs typeface="Lucida Sans"/>
                </a:endParaRPr>
              </a:p>
            </p:txBody>
          </p:sp>
        </mc:Choice>
        <mc:Fallback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B67515EB-A24D-5FAD-98A8-50400D406636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  <a:blipFill>
                <a:blip r:embed="rId3"/>
                <a:stretch>
                  <a:fillRect l="-1664" t="-7386" b="-4545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3" name="Gráfico 82">
            <a:extLst>
              <a:ext uri="{FF2B5EF4-FFF2-40B4-BE49-F238E27FC236}">
                <a16:creationId xmlns:a16="http://schemas.microsoft.com/office/drawing/2014/main" id="{363FD700-299C-5934-FBD2-96A492B194A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74CA1EF7-1BFF-74C9-702D-FF1E8F59F423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9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F0412FB5-CE29-88A3-F8CF-9DD2433D861F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4215D148-D46D-9BB5-3E47-FCBE1C6825B4}"/>
              </a:ext>
            </a:extLst>
          </p:cNvPr>
          <p:cNvSpPr txBox="1"/>
          <p:nvPr/>
        </p:nvSpPr>
        <p:spPr>
          <a:xfrm>
            <a:off x="6347361" y="4498712"/>
            <a:ext cx="5486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slab: 150nm</a:t>
            </a: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9D7E62B5-F6B9-8C2A-B75A-4B33F529235E}"/>
              </a:ext>
            </a:extLst>
          </p:cNvPr>
          <p:cNvSpPr txBox="1"/>
          <p:nvPr/>
        </p:nvSpPr>
        <p:spPr>
          <a:xfrm>
            <a:off x="6496859" y="1373320"/>
            <a:ext cx="28032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Second order polynomial </a:t>
            </a:r>
            <a:endParaRPr lang="es-ES" dirty="0"/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60AF2A7C-1CCB-B8EC-8C50-8381F89F7CF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97697" y="4733483"/>
            <a:ext cx="7796605" cy="362850"/>
          </a:xfrm>
          <a:prstGeom prst="rect">
            <a:avLst/>
          </a:prstGeom>
        </p:spPr>
      </p:pic>
      <p:sp>
        <p:nvSpPr>
          <p:cNvPr id="19" name="CuadroTexto 18">
            <a:extLst>
              <a:ext uri="{FF2B5EF4-FFF2-40B4-BE49-F238E27FC236}">
                <a16:creationId xmlns:a16="http://schemas.microsoft.com/office/drawing/2014/main" id="{BF0F4B76-0A7E-0D9D-051E-48BAFA3283D8}"/>
              </a:ext>
            </a:extLst>
          </p:cNvPr>
          <p:cNvSpPr txBox="1"/>
          <p:nvPr/>
        </p:nvSpPr>
        <p:spPr>
          <a:xfrm>
            <a:off x="3581400" y="4424667"/>
            <a:ext cx="7071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n3                           n2                                    n1                    </a:t>
            </a:r>
            <a:endParaRPr lang="es-E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35485CC4-86DA-506E-192F-AE0B3BE5C716}"/>
                  </a:ext>
                </a:extLst>
              </p:cNvPr>
              <p:cNvSpPr txBox="1"/>
              <p:nvPr/>
            </p:nvSpPr>
            <p:spPr>
              <a:xfrm>
                <a:off x="2057400" y="5151457"/>
                <a:ext cx="6126480" cy="11656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s-ES" sz="18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𝑒𝑓𝑓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𝑔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e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𝐷</m:t>
                            </m:r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=−</m:t>
                            </m:r>
                            <m:f>
                              <m:f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𝑐</m:t>
                                </m:r>
                              </m:den>
                            </m:f>
                            <m:d>
                              <m:dPr>
                                <m:begChr m:val="["/>
                                <m:endChr m:val="]"/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𝑚</m:t>
                                    </m:r>
                                  </m:den>
                                </m:f>
                              </m:e>
                            </m:d>
                          </m:e>
                        </m:eqArr>
                      </m:e>
                    </m:d>
                  </m:oMath>
                </a14:m>
                <a:endParaRPr lang="es-ES" dirty="0"/>
              </a:p>
            </p:txBody>
          </p:sp>
        </mc:Choice>
        <mc:Fallback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35485CC4-86DA-506E-192F-AE0B3BE5C7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7400" y="5151457"/>
                <a:ext cx="6126480" cy="1165640"/>
              </a:xfrm>
              <a:prstGeom prst="rect">
                <a:avLst/>
              </a:prstGeom>
              <a:blipFill>
                <a:blip r:embed="rId7"/>
                <a:stretch>
                  <a:fillRect l="-896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n 3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6E977453-4A00-E98F-8174-0351E089BF3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7272" y="1780188"/>
            <a:ext cx="4467733" cy="2451930"/>
          </a:xfrm>
          <a:prstGeom prst="rect">
            <a:avLst/>
          </a:prstGeom>
        </p:spPr>
      </p:pic>
      <p:pic>
        <p:nvPicPr>
          <p:cNvPr id="6" name="Imagen 5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F9353EDC-651C-F6C2-5164-BAC6A5D79D6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43600" y="1751496"/>
            <a:ext cx="3727874" cy="2688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18472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AE8931-755E-14B5-C4B6-8E066E3BC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5DCAE974-C8A2-DBD2-1AC5-9FA74611D8D7}"/>
                  </a:ext>
                </a:extLst>
              </p:cNvPr>
              <p:cNvSpPr txBox="1">
                <a:spLocks noGrp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0"/>
                  </a:spcBef>
                </a:pPr>
                <a:r>
                  <a:rPr lang="en-US" sz="2500" dirty="0"/>
                  <a:t>Learning outcome #3 – Deep Waveguide TM0</a:t>
                </a:r>
                <a:br>
                  <a:rPr lang="en-US" sz="2500" spc="-5" dirty="0">
                    <a:latin typeface="+mj-lt"/>
                    <a:cs typeface="Lucida Sans"/>
                  </a:rPr>
                </a:br>
                <a:r>
                  <a:rPr lang="en-US" b="0" dirty="0"/>
                  <a:t>Let’s model the waveguide using a second order polynomial: </a:t>
                </a:r>
                <a:br>
                  <a:rPr lang="en-US" b="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𝑒𝑓𝑓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b="0" dirty="0"/>
                </a:br>
                <a:endParaRPr lang="en-US" sz="2500" b="0" dirty="0">
                  <a:latin typeface="+mj-lt"/>
                  <a:cs typeface="Lucida Sans"/>
                </a:endParaRPr>
              </a:p>
            </p:txBody>
          </p:sp>
        </mc:Choice>
        <mc:Fallback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5DCAE974-C8A2-DBD2-1AC5-9FA74611D8D7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  <a:blipFill>
                <a:blip r:embed="rId3"/>
                <a:stretch>
                  <a:fillRect l="-1664" t="-7386" b="-4545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3" name="Gráfico 82">
            <a:extLst>
              <a:ext uri="{FF2B5EF4-FFF2-40B4-BE49-F238E27FC236}">
                <a16:creationId xmlns:a16="http://schemas.microsoft.com/office/drawing/2014/main" id="{F83356DF-BFFB-DFC4-83DE-29C5C721C04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7B20AE06-F404-EAE4-D52F-955FA1A7DBA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10</a:t>
            </a:fld>
            <a:endParaRPr lang="es-E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AD3D8A6B-6768-A5F6-3E0E-C1E8F0E7F72D}"/>
              </a:ext>
            </a:extLst>
          </p:cNvPr>
          <p:cNvSpPr txBox="1"/>
          <p:nvPr/>
        </p:nvSpPr>
        <p:spPr>
          <a:xfrm>
            <a:off x="6347361" y="4498712"/>
            <a:ext cx="5486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slab: 150nm</a:t>
            </a: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824B5328-8B45-A6BF-3FFF-9CFAED26BBF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12903" y="1852061"/>
            <a:ext cx="9222093" cy="429191"/>
          </a:xfrm>
          <a:prstGeom prst="rect">
            <a:avLst/>
          </a:prstGeom>
        </p:spPr>
      </p:pic>
      <p:sp>
        <p:nvSpPr>
          <p:cNvPr id="19" name="CuadroTexto 18">
            <a:extLst>
              <a:ext uri="{FF2B5EF4-FFF2-40B4-BE49-F238E27FC236}">
                <a16:creationId xmlns:a16="http://schemas.microsoft.com/office/drawing/2014/main" id="{A260284A-DEED-4226-EAA3-79BE414FFD50}"/>
              </a:ext>
            </a:extLst>
          </p:cNvPr>
          <p:cNvSpPr txBox="1"/>
          <p:nvPr/>
        </p:nvSpPr>
        <p:spPr>
          <a:xfrm>
            <a:off x="3429000" y="1511565"/>
            <a:ext cx="7071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n3                           n2                                    n1                    </a:t>
            </a:r>
            <a:endParaRPr lang="es-E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CA8A6274-F7AD-F0BC-9C5E-21A96D4032C8}"/>
                  </a:ext>
                </a:extLst>
              </p:cNvPr>
              <p:cNvSpPr txBox="1"/>
              <p:nvPr/>
            </p:nvSpPr>
            <p:spPr>
              <a:xfrm>
                <a:off x="939800" y="2295603"/>
                <a:ext cx="2489200" cy="11656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s-ES" sz="18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𝑒𝑓𝑓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𝑔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e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𝐷</m:t>
                            </m:r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=−</m:t>
                            </m:r>
                            <m:f>
                              <m:f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𝑐</m:t>
                                </m:r>
                              </m:den>
                            </m:f>
                            <m:d>
                              <m:dPr>
                                <m:begChr m:val="["/>
                                <m:endChr m:val="]"/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𝑚</m:t>
                                    </m:r>
                                  </m:den>
                                </m:f>
                              </m:e>
                            </m:d>
                          </m:e>
                        </m:eqArr>
                      </m:e>
                    </m:d>
                  </m:oMath>
                </a14:m>
                <a:endParaRPr lang="es-ES" dirty="0"/>
              </a:p>
            </p:txBody>
          </p:sp>
        </mc:Choice>
        <mc:Fallback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CA8A6274-F7AD-F0BC-9C5E-21A96D4032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800" y="2295603"/>
                <a:ext cx="2489200" cy="1165640"/>
              </a:xfrm>
              <a:prstGeom prst="rect">
                <a:avLst/>
              </a:prstGeom>
              <a:blipFill>
                <a:blip r:embed="rId7"/>
                <a:stretch>
                  <a:fillRect l="-1956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CuadroTexto 5">
            <a:extLst>
              <a:ext uri="{FF2B5EF4-FFF2-40B4-BE49-F238E27FC236}">
                <a16:creationId xmlns:a16="http://schemas.microsoft.com/office/drawing/2014/main" id="{4125680E-B19F-8838-D4DE-E9445573FA2A}"/>
              </a:ext>
            </a:extLst>
          </p:cNvPr>
          <p:cNvSpPr txBox="1"/>
          <p:nvPr/>
        </p:nvSpPr>
        <p:spPr>
          <a:xfrm>
            <a:off x="3203766" y="2471214"/>
            <a:ext cx="612832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/>
              <a:t>El </a:t>
            </a:r>
            <a:r>
              <a:rPr lang="en-US" b="0" dirty="0" err="1"/>
              <a:t>término</a:t>
            </a:r>
            <a:r>
              <a:rPr lang="en-US" b="0" dirty="0"/>
              <a:t> n1 </a:t>
            </a:r>
            <a:r>
              <a:rPr lang="en-US" b="0" dirty="0" err="1"/>
              <a:t>hace</a:t>
            </a:r>
            <a:r>
              <a:rPr lang="en-US" b="0" dirty="0"/>
              <a:t> </a:t>
            </a:r>
            <a:r>
              <a:rPr lang="en-US" b="0" dirty="0" err="1"/>
              <a:t>referencia</a:t>
            </a:r>
            <a:r>
              <a:rPr lang="en-US" b="0" dirty="0"/>
              <a:t> al </a:t>
            </a:r>
            <a:r>
              <a:rPr lang="en-US" b="0" dirty="0" err="1"/>
              <a:t>indice</a:t>
            </a:r>
            <a:r>
              <a:rPr lang="en-US" b="0" dirty="0"/>
              <a:t> </a:t>
            </a:r>
            <a:r>
              <a:rPr lang="en-US" b="0" dirty="0" err="1"/>
              <a:t>efectivo</a:t>
            </a:r>
            <a:r>
              <a:rPr lang="en-US" b="0" dirty="0"/>
              <a:t> de la </a:t>
            </a:r>
            <a:r>
              <a:rPr lang="en-US" b="0" dirty="0" err="1"/>
              <a:t>longiutd</a:t>
            </a:r>
            <a:r>
              <a:rPr lang="en-US" b="0" dirty="0"/>
              <a:t> de </a:t>
            </a:r>
            <a:r>
              <a:rPr lang="en-US" b="0" dirty="0" err="1"/>
              <a:t>onda</a:t>
            </a:r>
            <a:r>
              <a:rPr lang="en-US" b="0" dirty="0"/>
              <a:t> de 1550nm.</a:t>
            </a:r>
          </a:p>
          <a:p>
            <a:r>
              <a:rPr lang="en-US" dirty="0"/>
              <a:t>Por </a:t>
            </a:r>
            <a:r>
              <a:rPr lang="en-US" dirty="0" err="1"/>
              <a:t>otro</a:t>
            </a:r>
            <a:r>
              <a:rPr lang="en-US" dirty="0"/>
              <a:t> </a:t>
            </a:r>
            <a:r>
              <a:rPr lang="en-US" dirty="0" err="1"/>
              <a:t>lado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segundo</a:t>
            </a:r>
            <a:r>
              <a:rPr lang="en-US" dirty="0"/>
              <a:t> </a:t>
            </a:r>
            <a:r>
              <a:rPr lang="en-US" dirty="0" err="1"/>
              <a:t>término</a:t>
            </a:r>
            <a:r>
              <a:rPr lang="en-US" dirty="0"/>
              <a:t> n2, es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nos</a:t>
            </a:r>
            <a:r>
              <a:rPr lang="en-US" dirty="0"/>
              <a:t> dice </a:t>
            </a:r>
            <a:r>
              <a:rPr lang="en-US" dirty="0" err="1"/>
              <a:t>si</a:t>
            </a:r>
            <a:r>
              <a:rPr lang="en-US" dirty="0"/>
              <a:t> varia </a:t>
            </a:r>
            <a:r>
              <a:rPr lang="en-US" dirty="0" err="1"/>
              <a:t>más</a:t>
            </a:r>
            <a:r>
              <a:rPr lang="en-US" dirty="0"/>
              <a:t> o </a:t>
            </a:r>
            <a:r>
              <a:rPr lang="en-US" dirty="0" err="1"/>
              <a:t>menos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índice</a:t>
            </a:r>
            <a:r>
              <a:rPr lang="en-US" dirty="0"/>
              <a:t> de </a:t>
            </a:r>
            <a:r>
              <a:rPr lang="en-US" dirty="0" err="1"/>
              <a:t>grupo</a:t>
            </a:r>
            <a:r>
              <a:rPr lang="en-US" dirty="0"/>
              <a:t>. En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caso</a:t>
            </a:r>
            <a:r>
              <a:rPr lang="en-US" dirty="0"/>
              <a:t> </a:t>
            </a:r>
            <a:r>
              <a:rPr lang="en-US" dirty="0" err="1"/>
              <a:t>menos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modo TE. 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0668372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48DAC2-162A-F646-C573-A364DB79B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B9CBC11C-E1DA-E715-7DC7-8FACC0C24C40}"/>
                  </a:ext>
                </a:extLst>
              </p:cNvPr>
              <p:cNvSpPr txBox="1">
                <a:spLocks noGrp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0"/>
                  </a:spcBef>
                </a:pPr>
                <a:r>
                  <a:rPr lang="en-US" sz="2500" dirty="0"/>
                  <a:t>Learning outcome #3 – Shallow Waveguide TE0</a:t>
                </a:r>
                <a:br>
                  <a:rPr lang="en-US" sz="2500" spc="-5" dirty="0">
                    <a:latin typeface="+mj-lt"/>
                    <a:cs typeface="Lucida Sans"/>
                  </a:rPr>
                </a:br>
                <a:r>
                  <a:rPr lang="en-US" b="0" dirty="0"/>
                  <a:t>Let’s model the waveguide using a second order polynomial: </a:t>
                </a:r>
                <a:br>
                  <a:rPr lang="en-US" b="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𝑒𝑓𝑓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b="0" dirty="0"/>
                </a:br>
                <a:endParaRPr lang="en-US" sz="2500" b="0" dirty="0">
                  <a:latin typeface="+mj-lt"/>
                  <a:cs typeface="Lucida Sans"/>
                </a:endParaRPr>
              </a:p>
            </p:txBody>
          </p:sp>
        </mc:Choice>
        <mc:Fallback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B9CBC11C-E1DA-E715-7DC7-8FACC0C24C40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  <a:blipFill>
                <a:blip r:embed="rId3"/>
                <a:stretch>
                  <a:fillRect l="-1664" t="-7386" b="-4545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3" name="Gráfico 82">
            <a:extLst>
              <a:ext uri="{FF2B5EF4-FFF2-40B4-BE49-F238E27FC236}">
                <a16:creationId xmlns:a16="http://schemas.microsoft.com/office/drawing/2014/main" id="{1756C3E4-086C-829B-EAC6-B613540B35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223837A0-A520-1EB2-F563-E6A9432BAE46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11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F8C769D-F68D-43E9-F782-DAC54CEB092E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5D099588-7455-2EDD-8FC6-CFC6640E7167}"/>
              </a:ext>
            </a:extLst>
          </p:cNvPr>
          <p:cNvSpPr txBox="1"/>
          <p:nvPr/>
        </p:nvSpPr>
        <p:spPr>
          <a:xfrm>
            <a:off x="6347361" y="4498712"/>
            <a:ext cx="5486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slab: 150nm</a:t>
            </a: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C9D34ED1-4722-347C-C679-FCDCE13C4414}"/>
              </a:ext>
            </a:extLst>
          </p:cNvPr>
          <p:cNvSpPr txBox="1"/>
          <p:nvPr/>
        </p:nvSpPr>
        <p:spPr>
          <a:xfrm>
            <a:off x="6496859" y="1373320"/>
            <a:ext cx="28032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Second order polynomial </a:t>
            </a:r>
            <a:endParaRPr lang="es-ES" dirty="0"/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368D0ADC-6107-BC14-84BF-92E5221E8C0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97697" y="4737298"/>
            <a:ext cx="7796605" cy="355219"/>
          </a:xfrm>
          <a:prstGeom prst="rect">
            <a:avLst/>
          </a:prstGeom>
        </p:spPr>
      </p:pic>
      <p:sp>
        <p:nvSpPr>
          <p:cNvPr id="19" name="CuadroTexto 18">
            <a:extLst>
              <a:ext uri="{FF2B5EF4-FFF2-40B4-BE49-F238E27FC236}">
                <a16:creationId xmlns:a16="http://schemas.microsoft.com/office/drawing/2014/main" id="{E08BA082-153A-62DC-B44E-CEBDE58662DC}"/>
              </a:ext>
            </a:extLst>
          </p:cNvPr>
          <p:cNvSpPr txBox="1"/>
          <p:nvPr/>
        </p:nvSpPr>
        <p:spPr>
          <a:xfrm>
            <a:off x="3581400" y="4424667"/>
            <a:ext cx="7071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n3                           n2                                    n1                    </a:t>
            </a:r>
            <a:endParaRPr lang="es-E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41C64620-4CA1-E947-CA0D-7EED60D1F861}"/>
                  </a:ext>
                </a:extLst>
              </p:cNvPr>
              <p:cNvSpPr txBox="1"/>
              <p:nvPr/>
            </p:nvSpPr>
            <p:spPr>
              <a:xfrm>
                <a:off x="2057400" y="5151457"/>
                <a:ext cx="6126480" cy="11656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s-ES" sz="18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𝑒𝑓𝑓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𝑔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e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𝐷</m:t>
                            </m:r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=−</m:t>
                            </m:r>
                            <m:f>
                              <m:f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𝑐</m:t>
                                </m:r>
                              </m:den>
                            </m:f>
                            <m:d>
                              <m:dPr>
                                <m:begChr m:val="["/>
                                <m:endChr m:val="]"/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𝑚</m:t>
                                    </m:r>
                                  </m:den>
                                </m:f>
                              </m:e>
                            </m:d>
                          </m:e>
                        </m:eqArr>
                      </m:e>
                    </m:d>
                  </m:oMath>
                </a14:m>
                <a:endParaRPr lang="es-ES" dirty="0"/>
              </a:p>
            </p:txBody>
          </p:sp>
        </mc:Choice>
        <mc:Fallback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41C64620-4CA1-E947-CA0D-7EED60D1F8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7400" y="5151457"/>
                <a:ext cx="6126480" cy="1165640"/>
              </a:xfrm>
              <a:prstGeom prst="rect">
                <a:avLst/>
              </a:prstGeom>
              <a:blipFill>
                <a:blip r:embed="rId7"/>
                <a:stretch>
                  <a:fillRect l="-896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n 3">
            <a:extLst>
              <a:ext uri="{FF2B5EF4-FFF2-40B4-BE49-F238E27FC236}">
                <a16:creationId xmlns:a16="http://schemas.microsoft.com/office/drawing/2014/main" id="{97B24C7A-39BD-12AB-3F9E-186D0D424402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7272" y="1814758"/>
            <a:ext cx="4467733" cy="2382790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93789503-10FF-2FE5-9C0A-B5459E013369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943600" y="1761310"/>
            <a:ext cx="3727874" cy="2669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41711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1AC50E-22C6-88C8-7BAE-2D60BED82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71FC141E-2300-38B0-D8FD-1166BAEA3F12}"/>
                  </a:ext>
                </a:extLst>
              </p:cNvPr>
              <p:cNvSpPr txBox="1">
                <a:spLocks noGrp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0"/>
                  </a:spcBef>
                </a:pPr>
                <a:r>
                  <a:rPr lang="en-US" sz="2500" dirty="0"/>
                  <a:t>Learning outcome #3 – Shallow Waveguide TE0</a:t>
                </a:r>
                <a:br>
                  <a:rPr lang="en-US" sz="2500" spc="-5" dirty="0">
                    <a:latin typeface="+mj-lt"/>
                    <a:cs typeface="Lucida Sans"/>
                  </a:rPr>
                </a:br>
                <a:r>
                  <a:rPr lang="en-US" b="0" dirty="0"/>
                  <a:t>Let’s model the waveguide using a second order polynomial: </a:t>
                </a:r>
                <a:br>
                  <a:rPr lang="en-US" b="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𝑒𝑓𝑓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b="0" dirty="0"/>
                </a:br>
                <a:endParaRPr lang="en-US" sz="2500" b="0" dirty="0">
                  <a:latin typeface="+mj-lt"/>
                  <a:cs typeface="Lucida Sans"/>
                </a:endParaRPr>
              </a:p>
            </p:txBody>
          </p:sp>
        </mc:Choice>
        <mc:Fallback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71FC141E-2300-38B0-D8FD-1166BAEA3F12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  <a:blipFill>
                <a:blip r:embed="rId3"/>
                <a:stretch>
                  <a:fillRect l="-1664" t="-7386" b="-4545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3" name="Gráfico 82">
            <a:extLst>
              <a:ext uri="{FF2B5EF4-FFF2-40B4-BE49-F238E27FC236}">
                <a16:creationId xmlns:a16="http://schemas.microsoft.com/office/drawing/2014/main" id="{182EAE19-EB79-1450-21AC-65E9DDF315A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F13DD4CB-52F5-565D-33DD-C25A6A62DBE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12</a:t>
            </a:fld>
            <a:endParaRPr lang="es-E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293F60B3-A020-E8A2-33F8-B4D47ADD9C52}"/>
              </a:ext>
            </a:extLst>
          </p:cNvPr>
          <p:cNvSpPr txBox="1"/>
          <p:nvPr/>
        </p:nvSpPr>
        <p:spPr>
          <a:xfrm>
            <a:off x="6347361" y="4498712"/>
            <a:ext cx="5486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slab: 150nm</a:t>
            </a: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97C6B341-5248-47C2-8AA0-B0B45AE351B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12903" y="1856574"/>
            <a:ext cx="9222093" cy="420165"/>
          </a:xfrm>
          <a:prstGeom prst="rect">
            <a:avLst/>
          </a:prstGeom>
        </p:spPr>
      </p:pic>
      <p:sp>
        <p:nvSpPr>
          <p:cNvPr id="19" name="CuadroTexto 18">
            <a:extLst>
              <a:ext uri="{FF2B5EF4-FFF2-40B4-BE49-F238E27FC236}">
                <a16:creationId xmlns:a16="http://schemas.microsoft.com/office/drawing/2014/main" id="{ABB83B6C-9A68-44D1-73CB-2FC1B533818F}"/>
              </a:ext>
            </a:extLst>
          </p:cNvPr>
          <p:cNvSpPr txBox="1"/>
          <p:nvPr/>
        </p:nvSpPr>
        <p:spPr>
          <a:xfrm>
            <a:off x="3429000" y="1511565"/>
            <a:ext cx="7071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n3                           n2                                    n1                    </a:t>
            </a:r>
            <a:endParaRPr lang="es-E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65B74E8A-A6EE-D55B-9C14-5D4C2A5BA713}"/>
                  </a:ext>
                </a:extLst>
              </p:cNvPr>
              <p:cNvSpPr txBox="1"/>
              <p:nvPr/>
            </p:nvSpPr>
            <p:spPr>
              <a:xfrm>
                <a:off x="939800" y="2295603"/>
                <a:ext cx="2489200" cy="11656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s-ES" sz="18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𝑒𝑓𝑓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𝑔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e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𝐷</m:t>
                            </m:r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=−</m:t>
                            </m:r>
                            <m:f>
                              <m:f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𝑐</m:t>
                                </m:r>
                              </m:den>
                            </m:f>
                            <m:d>
                              <m:dPr>
                                <m:begChr m:val="["/>
                                <m:endChr m:val="]"/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𝑚</m:t>
                                    </m:r>
                                  </m:den>
                                </m:f>
                              </m:e>
                            </m:d>
                          </m:e>
                        </m:eqArr>
                      </m:e>
                    </m:d>
                  </m:oMath>
                </a14:m>
                <a:endParaRPr lang="es-ES" dirty="0"/>
              </a:p>
            </p:txBody>
          </p:sp>
        </mc:Choice>
        <mc:Fallback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65B74E8A-A6EE-D55B-9C14-5D4C2A5BA7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800" y="2295603"/>
                <a:ext cx="2489200" cy="1165640"/>
              </a:xfrm>
              <a:prstGeom prst="rect">
                <a:avLst/>
              </a:prstGeom>
              <a:blipFill>
                <a:blip r:embed="rId7"/>
                <a:stretch>
                  <a:fillRect l="-1956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350389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830F9F-F0F5-798D-B6C0-42EC9724C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EF318298-7211-9CE8-9BF6-C2DBDEB39C93}"/>
                  </a:ext>
                </a:extLst>
              </p:cNvPr>
              <p:cNvSpPr txBox="1">
                <a:spLocks noGrp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0"/>
                  </a:spcBef>
                </a:pPr>
                <a:r>
                  <a:rPr lang="en-US" sz="2500" dirty="0"/>
                  <a:t>Learning outcome #3 – Shallow Waveguide TM0</a:t>
                </a:r>
                <a:br>
                  <a:rPr lang="en-US" sz="2500" spc="-5" dirty="0">
                    <a:latin typeface="+mj-lt"/>
                    <a:cs typeface="Lucida Sans"/>
                  </a:rPr>
                </a:br>
                <a:r>
                  <a:rPr lang="en-US" b="0" dirty="0"/>
                  <a:t>Let’s model the waveguide using a second order polynomial: </a:t>
                </a:r>
                <a:br>
                  <a:rPr lang="en-US" b="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𝑒𝑓𝑓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b="0" dirty="0"/>
                </a:br>
                <a:endParaRPr lang="en-US" sz="2500" b="0" dirty="0">
                  <a:latin typeface="+mj-lt"/>
                  <a:cs typeface="Lucida Sans"/>
                </a:endParaRPr>
              </a:p>
            </p:txBody>
          </p:sp>
        </mc:Choice>
        <mc:Fallback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EF318298-7211-9CE8-9BF6-C2DBDEB39C93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  <a:blipFill>
                <a:blip r:embed="rId3"/>
                <a:stretch>
                  <a:fillRect l="-1664" t="-7386" b="-4545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3" name="Gráfico 82">
            <a:extLst>
              <a:ext uri="{FF2B5EF4-FFF2-40B4-BE49-F238E27FC236}">
                <a16:creationId xmlns:a16="http://schemas.microsoft.com/office/drawing/2014/main" id="{06EBCC2E-016A-F48A-C4CE-394B6C76B3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5CF04770-7CCF-B3F7-EB23-9A2D06FAFFEB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13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A65FEB6A-1148-7CD5-80CA-4B12AE7A2DDA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DB063592-51FC-99E1-CC21-47A7E079949E}"/>
              </a:ext>
            </a:extLst>
          </p:cNvPr>
          <p:cNvSpPr txBox="1"/>
          <p:nvPr/>
        </p:nvSpPr>
        <p:spPr>
          <a:xfrm>
            <a:off x="6347361" y="4498712"/>
            <a:ext cx="5486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slab: 150nm</a:t>
            </a: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FE876B93-5A6A-C3BD-29A5-BBD6E95E6395}"/>
              </a:ext>
            </a:extLst>
          </p:cNvPr>
          <p:cNvSpPr txBox="1"/>
          <p:nvPr/>
        </p:nvSpPr>
        <p:spPr>
          <a:xfrm>
            <a:off x="6496859" y="1373320"/>
            <a:ext cx="28032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Second order polynomial </a:t>
            </a:r>
            <a:endParaRPr lang="es-ES" dirty="0"/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9BEA71D9-F533-25DD-2028-E99CDFE8EFF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97697" y="4748234"/>
            <a:ext cx="7796605" cy="333346"/>
          </a:xfrm>
          <a:prstGeom prst="rect">
            <a:avLst/>
          </a:prstGeom>
        </p:spPr>
      </p:pic>
      <p:sp>
        <p:nvSpPr>
          <p:cNvPr id="19" name="CuadroTexto 18">
            <a:extLst>
              <a:ext uri="{FF2B5EF4-FFF2-40B4-BE49-F238E27FC236}">
                <a16:creationId xmlns:a16="http://schemas.microsoft.com/office/drawing/2014/main" id="{B3F0B0EC-6D97-47E5-8879-B3E287ADCC32}"/>
              </a:ext>
            </a:extLst>
          </p:cNvPr>
          <p:cNvSpPr txBox="1"/>
          <p:nvPr/>
        </p:nvSpPr>
        <p:spPr>
          <a:xfrm>
            <a:off x="3581400" y="4424667"/>
            <a:ext cx="7071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n3                           n2                                    n1                    </a:t>
            </a:r>
            <a:endParaRPr lang="es-E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F8B2BE6D-04DB-71DB-565F-C24EE330B604}"/>
                  </a:ext>
                </a:extLst>
              </p:cNvPr>
              <p:cNvSpPr txBox="1"/>
              <p:nvPr/>
            </p:nvSpPr>
            <p:spPr>
              <a:xfrm>
                <a:off x="2057400" y="5151457"/>
                <a:ext cx="6126480" cy="11656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s-ES" sz="18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𝑒𝑓𝑓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𝑔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e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𝐷</m:t>
                            </m:r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=−</m:t>
                            </m:r>
                            <m:f>
                              <m:f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𝑐</m:t>
                                </m:r>
                              </m:den>
                            </m:f>
                            <m:d>
                              <m:dPr>
                                <m:begChr m:val="["/>
                                <m:endChr m:val="]"/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𝑚</m:t>
                                    </m:r>
                                  </m:den>
                                </m:f>
                              </m:e>
                            </m:d>
                          </m:e>
                        </m:eqArr>
                      </m:e>
                    </m:d>
                  </m:oMath>
                </a14:m>
                <a:endParaRPr lang="es-ES" dirty="0"/>
              </a:p>
            </p:txBody>
          </p:sp>
        </mc:Choice>
        <mc:Fallback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F8B2BE6D-04DB-71DB-565F-C24EE330B6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7400" y="5151457"/>
                <a:ext cx="6126480" cy="1165640"/>
              </a:xfrm>
              <a:prstGeom prst="rect">
                <a:avLst/>
              </a:prstGeom>
              <a:blipFill>
                <a:blip r:embed="rId7"/>
                <a:stretch>
                  <a:fillRect l="-896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n 3">
            <a:extLst>
              <a:ext uri="{FF2B5EF4-FFF2-40B4-BE49-F238E27FC236}">
                <a16:creationId xmlns:a16="http://schemas.microsoft.com/office/drawing/2014/main" id="{FA1E7852-433A-6129-C7D0-B874B7AA5BFD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80515" y="1814758"/>
            <a:ext cx="4461246" cy="2382790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F0A610BF-EAAA-364F-AF1E-9236E3B82CA6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991368" y="1761310"/>
            <a:ext cx="3632337" cy="2669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41865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661A07-B610-CE9F-1A87-66C35F55DB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C2A53819-2EC8-476E-A414-9C6EEFC40DFE}"/>
                  </a:ext>
                </a:extLst>
              </p:cNvPr>
              <p:cNvSpPr txBox="1">
                <a:spLocks noGrp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0"/>
                  </a:spcBef>
                </a:pPr>
                <a:r>
                  <a:rPr lang="en-US" sz="2500" dirty="0"/>
                  <a:t>Learning outcome #3 – Shallow Waveguide TM0</a:t>
                </a:r>
                <a:br>
                  <a:rPr lang="en-US" sz="2500" spc="-5" dirty="0">
                    <a:latin typeface="+mj-lt"/>
                    <a:cs typeface="Lucida Sans"/>
                  </a:rPr>
                </a:br>
                <a:r>
                  <a:rPr lang="en-US" b="0" dirty="0"/>
                  <a:t>Let’s model the waveguide using a second order polynomial: </a:t>
                </a:r>
                <a:br>
                  <a:rPr lang="en-US" b="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𝑒𝑓𝑓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b="0" dirty="0"/>
                </a:br>
                <a:endParaRPr lang="en-US" sz="2500" b="0" dirty="0">
                  <a:latin typeface="+mj-lt"/>
                  <a:cs typeface="Lucida Sans"/>
                </a:endParaRPr>
              </a:p>
            </p:txBody>
          </p:sp>
        </mc:Choice>
        <mc:Fallback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C2A53819-2EC8-476E-A414-9C6EEFC40DFE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  <a:blipFill>
                <a:blip r:embed="rId3"/>
                <a:stretch>
                  <a:fillRect l="-1664" t="-7386" b="-4545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3" name="Gráfico 82">
            <a:extLst>
              <a:ext uri="{FF2B5EF4-FFF2-40B4-BE49-F238E27FC236}">
                <a16:creationId xmlns:a16="http://schemas.microsoft.com/office/drawing/2014/main" id="{81FDAE66-5D24-B5C2-6314-FA4D0ACA429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878668BA-CB0B-3009-C2C7-174B31ADC96D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14</a:t>
            </a:fld>
            <a:endParaRPr lang="es-E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149A8D63-3B6E-CF84-05F0-403508B2FB84}"/>
              </a:ext>
            </a:extLst>
          </p:cNvPr>
          <p:cNvSpPr txBox="1"/>
          <p:nvPr/>
        </p:nvSpPr>
        <p:spPr>
          <a:xfrm>
            <a:off x="6347361" y="4498712"/>
            <a:ext cx="5486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slab: 150nm</a:t>
            </a: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349CCA99-47ED-E2A6-C0D7-21DBE4AAC30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12903" y="1869510"/>
            <a:ext cx="9222093" cy="394293"/>
          </a:xfrm>
          <a:prstGeom prst="rect">
            <a:avLst/>
          </a:prstGeom>
        </p:spPr>
      </p:pic>
      <p:sp>
        <p:nvSpPr>
          <p:cNvPr id="19" name="CuadroTexto 18">
            <a:extLst>
              <a:ext uri="{FF2B5EF4-FFF2-40B4-BE49-F238E27FC236}">
                <a16:creationId xmlns:a16="http://schemas.microsoft.com/office/drawing/2014/main" id="{9BDB32DB-A4F9-C1C3-B391-0B9831D1099E}"/>
              </a:ext>
            </a:extLst>
          </p:cNvPr>
          <p:cNvSpPr txBox="1"/>
          <p:nvPr/>
        </p:nvSpPr>
        <p:spPr>
          <a:xfrm>
            <a:off x="3429000" y="1511565"/>
            <a:ext cx="7071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n3                           n2                                    n1                    </a:t>
            </a:r>
            <a:endParaRPr lang="es-E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3C175E37-4F39-F6F7-B8EB-1C1A16612C41}"/>
                  </a:ext>
                </a:extLst>
              </p:cNvPr>
              <p:cNvSpPr txBox="1"/>
              <p:nvPr/>
            </p:nvSpPr>
            <p:spPr>
              <a:xfrm>
                <a:off x="939800" y="2295603"/>
                <a:ext cx="2489200" cy="11656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s-ES" sz="18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𝑒𝑓𝑓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𝑔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e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𝐷</m:t>
                            </m:r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=−</m:t>
                            </m:r>
                            <m:f>
                              <m:f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𝑐</m:t>
                                </m:r>
                              </m:den>
                            </m:f>
                            <m:d>
                              <m:dPr>
                                <m:begChr m:val="["/>
                                <m:endChr m:val="]"/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𝑚</m:t>
                                    </m:r>
                                  </m:den>
                                </m:f>
                              </m:e>
                            </m:d>
                          </m:e>
                        </m:eqArr>
                      </m:e>
                    </m:d>
                  </m:oMath>
                </a14:m>
                <a:endParaRPr lang="es-ES" dirty="0"/>
              </a:p>
            </p:txBody>
          </p:sp>
        </mc:Choice>
        <mc:Fallback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3C175E37-4F39-F6F7-B8EB-1C1A16612C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800" y="2295603"/>
                <a:ext cx="2489200" cy="1165640"/>
              </a:xfrm>
              <a:prstGeom prst="rect">
                <a:avLst/>
              </a:prstGeom>
              <a:blipFill>
                <a:blip r:embed="rId7"/>
                <a:stretch>
                  <a:fillRect l="-1956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764817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34E70-43B1-3881-1771-20FB43584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742C31CE-19F0-B995-0997-9A2D6A879BF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09004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Bend waveguide radius vs. loss – deep</a:t>
            </a:r>
            <a:br>
              <a:rPr lang="en-US" sz="2500" dirty="0"/>
            </a:br>
            <a:r>
              <a:rPr lang="en-US" b="0" dirty="0"/>
              <a:t>Find  neff_TE0 for </a:t>
            </a:r>
            <a:r>
              <a:rPr lang="en-US" b="0" dirty="0" err="1"/>
              <a:t>wvl</a:t>
            </a:r>
            <a:r>
              <a:rPr lang="en-US" b="0" dirty="0"/>
              <a:t> 1.55 µm, width 1.0 µm for R=25,50,75,100, 125,150 µm</a:t>
            </a:r>
            <a:br>
              <a:rPr lang="en-US" sz="2500" dirty="0"/>
            </a:b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D688A609-F3DC-EE34-C536-683E70F32E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B6C672C6-89D4-7E67-2B94-811D081786A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AA1F4313-D710-7A3E-7A8F-EB77DEE3C1A7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FDE3A197-9508-F9F1-1FEB-FF883D78C151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results, which is the safe radius, consider safe means less than 0.1 dB/90º.</a:t>
            </a:r>
          </a:p>
          <a:p>
            <a:pPr algn="just"/>
            <a:endParaRPr lang="en-US" sz="1200" u="sng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409FBBBB-69CA-B7E5-7176-8227F2788CF5}"/>
                  </a:ext>
                </a:extLst>
              </p:cNvPr>
              <p:cNvSpPr txBox="1"/>
              <p:nvPr/>
            </p:nvSpPr>
            <p:spPr>
              <a:xfrm>
                <a:off x="9941529" y="4179383"/>
                <a:ext cx="1856534" cy="4396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s-ES" sz="1800" b="0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s-E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s-ES" sz="18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s-ES" sz="1800" b="0" i="1" smtClean="0">
                                <a:latin typeface="Cambria Math" panose="02040503050406030204" pitchFamily="18" charset="0"/>
                              </a:rPr>
                              <m:t>𝑑𝐵</m:t>
                            </m:r>
                          </m:num>
                          <m:den>
                            <m:r>
                              <a:rPr lang="es-ES" sz="1800" b="0" i="1" smtClean="0">
                                <a:latin typeface="Cambria Math" panose="02040503050406030204" pitchFamily="18" charset="0"/>
                              </a:rPr>
                              <m:t>90</m:t>
                            </m:r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°</m:t>
                            </m:r>
                          </m:den>
                        </m:f>
                      </m:e>
                    </m:d>
                    <m:r>
                      <a:rPr lang="es-ES" sz="18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s-ES" sz="180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s-ES" sz="1800" b="0" i="0" smtClean="0">
                        <a:latin typeface="Cambria Math" panose="02040503050406030204" pitchFamily="18" charset="0"/>
                      </a:rPr>
                      <m:t>R</m:t>
                    </m:r>
                    <m:f>
                      <m:fPr>
                        <m:ctrlPr>
                          <a:rPr lang="es-ES" sz="1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s-ES" sz="1800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s-ES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s-ES" sz="18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s-ES" sz="1800" i="1">
                                <a:latin typeface="Cambria Math" panose="02040503050406030204" pitchFamily="18" charset="0"/>
                              </a:rPr>
                              <m:t>𝑑𝐵</m:t>
                            </m:r>
                          </m:num>
                          <m:den>
                            <m:r>
                              <a:rPr lang="es-ES" sz="1800" i="1">
                                <a:latin typeface="Cambria Math" panose="02040503050406030204" pitchFamily="18" charset="0"/>
                              </a:rPr>
                              <m:t>µ</m:t>
                            </m:r>
                            <m:r>
                              <a:rPr lang="es-ES" sz="18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den>
                        </m:f>
                      </m:e>
                    </m:d>
                  </m:oMath>
                </a14:m>
                <a:endParaRPr lang="en-US" sz="1800" dirty="0"/>
              </a:p>
            </p:txBody>
          </p:sp>
        </mc:Choice>
        <mc:Fallback xmlns="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409FBBBB-69CA-B7E5-7176-8227F2788C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41529" y="4179383"/>
                <a:ext cx="1856534" cy="439608"/>
              </a:xfrm>
              <a:prstGeom prst="rect">
                <a:avLst/>
              </a:prstGeom>
              <a:blipFill>
                <a:blip r:embed="rId5"/>
                <a:stretch>
                  <a:fillRect l="-3289" b="-13889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ángulo 6">
            <a:extLst>
              <a:ext uri="{FF2B5EF4-FFF2-40B4-BE49-F238E27FC236}">
                <a16:creationId xmlns:a16="http://schemas.microsoft.com/office/drawing/2014/main" id="{B5FE8755-B0BF-14B7-64E6-4BBB2560B9A6}"/>
              </a:ext>
            </a:extLst>
          </p:cNvPr>
          <p:cNvSpPr/>
          <p:nvPr/>
        </p:nvSpPr>
        <p:spPr>
          <a:xfrm>
            <a:off x="609441" y="1418373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331EBD86-BA6C-68C9-2D38-FC8CFBA7ADC4}"/>
              </a:ext>
            </a:extLst>
          </p:cNvPr>
          <p:cNvSpPr txBox="1"/>
          <p:nvPr/>
        </p:nvSpPr>
        <p:spPr>
          <a:xfrm>
            <a:off x="2978141" y="2784355"/>
            <a:ext cx="623571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dB/90º neff_TE0 &amp; neff_TM0 vs R</a:t>
            </a:r>
          </a:p>
        </p:txBody>
      </p:sp>
    </p:spTree>
    <p:extLst>
      <p:ext uri="{BB962C8B-B14F-4D97-AF65-F5344CB8AC3E}">
        <p14:creationId xmlns:p14="http://schemas.microsoft.com/office/powerpoint/2010/main" val="36604382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3945635" y="2636520"/>
            <a:ext cx="8246363" cy="15849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513326" y="3165729"/>
            <a:ext cx="2233295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b="1" spc="-5" dirty="0">
                <a:solidFill>
                  <a:srgbClr val="FFFFFF"/>
                </a:solidFill>
                <a:latin typeface="Lucida Sans"/>
                <a:cs typeface="Lucida Sans"/>
              </a:rPr>
              <a:t>Thank</a:t>
            </a:r>
            <a:r>
              <a:rPr sz="3200" b="1" spc="-55" dirty="0">
                <a:solidFill>
                  <a:srgbClr val="FFFFFF"/>
                </a:solidFill>
                <a:latin typeface="Lucida Sans"/>
                <a:cs typeface="Lucida Sans"/>
              </a:rPr>
              <a:t> </a:t>
            </a:r>
            <a:r>
              <a:rPr sz="3200" b="1" dirty="0">
                <a:solidFill>
                  <a:srgbClr val="FFFFFF"/>
                </a:solidFill>
                <a:latin typeface="Lucida Sans"/>
                <a:cs typeface="Lucida Sans"/>
              </a:rPr>
              <a:t>you</a:t>
            </a:r>
            <a:endParaRPr sz="3200">
              <a:latin typeface="Lucida Sans"/>
              <a:cs typeface="Lucida Sans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052DA19-AD24-7D24-2AE9-51F8F5A7F5E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16</a:t>
            </a:fld>
            <a:endParaRPr lang="es-E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2076</TotalTime>
  <Words>1012</Words>
  <Application>Microsoft Office PowerPoint</Application>
  <PresentationFormat>Panorámica</PresentationFormat>
  <Paragraphs>150</Paragraphs>
  <Slides>16</Slides>
  <Notes>13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4" baseType="lpstr">
      <vt:lpstr>Aptos</vt:lpstr>
      <vt:lpstr>Arial</vt:lpstr>
      <vt:lpstr>Calibri</vt:lpstr>
      <vt:lpstr>Cambria Math</vt:lpstr>
      <vt:lpstr>Lucida Sans</vt:lpstr>
      <vt:lpstr>Times New Roman</vt:lpstr>
      <vt:lpstr>Wingdings</vt:lpstr>
      <vt:lpstr>Office Theme</vt:lpstr>
      <vt:lpstr>Presentación de PowerPoint</vt:lpstr>
      <vt:lpstr>Instructions General</vt:lpstr>
      <vt:lpstr>Learning outcome #1 – Convergence tests DE waveguide, w = 1.2 µm, neff_TE0, wvl 1.55 µm. </vt:lpstr>
      <vt:lpstr>Learning outcome #2 – Width dependence Width 0.6 - 1.6 µm (step 0.1 µm) – Wavelength 1.55 µm </vt:lpstr>
      <vt:lpstr>Learning outcome #3 – Waveguide compact model Let’s model the waveguide using a second order polynomial:  n_eff (λ)=n_1+n_2 (λ-λ_0 )+n_3 (λ-λ_0 )^2 </vt:lpstr>
      <vt:lpstr>Learning outcome #3 – Waveguide compact model Let’s model the waveguide using a second order polynomial:  n_eff (λ)=n_1+n_2 (λ-λ_0 )+n_3 (λ-λ_0 )^2 </vt:lpstr>
      <vt:lpstr>Learning outcome #3 – Deep Waveguide TE0 Let’s model the waveguide using a second order polynomial:  n_eff (λ)=n_1+n_2 (λ-λ_0 )+n_3 (λ-λ_0 )^2 </vt:lpstr>
      <vt:lpstr>Learning outcome #3 – Deep Waveguide TE0 Let’s model the waveguide using a second order polynomial:  n_eff (λ)=n_1+n_2 (λ-λ_0 )+n_3 (λ-λ_0 )^2 </vt:lpstr>
      <vt:lpstr>Learning outcome #3 – Deep Waveguide TM0 Let’s model the waveguide using a second order polynomial:  n_eff (λ)=n_1+n_2 (λ-λ_0 )+n_3 (λ-λ_0 )^2 </vt:lpstr>
      <vt:lpstr>Learning outcome #3 – Deep Waveguide TM0 Let’s model the waveguide using a second order polynomial:  n_eff (λ)=n_1+n_2 (λ-λ_0 )+n_3 (λ-λ_0 )^2 </vt:lpstr>
      <vt:lpstr>Learning outcome #3 – Shallow Waveguide TE0 Let’s model the waveguide using a second order polynomial:  n_eff (λ)=n_1+n_2 (λ-λ_0 )+n_3 (λ-λ_0 )^2 </vt:lpstr>
      <vt:lpstr>Learning outcome #3 – Shallow Waveguide TE0 Let’s model the waveguide using a second order polynomial:  n_eff (λ)=n_1+n_2 (λ-λ_0 )+n_3 (λ-λ_0 )^2 </vt:lpstr>
      <vt:lpstr>Learning outcome #3 – Shallow Waveguide TM0 Let’s model the waveguide using a second order polynomial:  n_eff (λ)=n_1+n_2 (λ-λ_0 )+n_3 (λ-λ_0 )^2 </vt:lpstr>
      <vt:lpstr>Learning outcome #3 – Shallow Waveguide TM0 Let’s model the waveguide using a second order polynomial:  n_eff (λ)=n_1+n_2 (λ-λ_0 )+n_3 (λ-λ_0 )^2 </vt:lpstr>
      <vt:lpstr>Learning outcome #4 – Bend waveguide radius vs. loss – deep Find  neff_TE0 for wvl 1.55 µm, width 1.0 µm for R=25,50,75,100, 125,150 µm 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Mª Ester Calataytud</dc:creator>
  <cp:lastModifiedBy>Roberto José Fernández Sevilla</cp:lastModifiedBy>
  <cp:revision>12</cp:revision>
  <dcterms:created xsi:type="dcterms:W3CDTF">2025-01-27T02:46:57Z</dcterms:created>
  <dcterms:modified xsi:type="dcterms:W3CDTF">2026-02-20T10:52:47Z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2024-09-16T00:00:00Z</vt:filetime>
  </property>
  <property fmtid="{D5CDD505-2E9C-101B-9397-08002B2CF9AE}" pid="3" name="Creator">
    <vt:lpwstr>Microsoft® PowerPoint® 2016</vt:lpwstr>
  </property>
  <property fmtid="{D5CDD505-2E9C-101B-9397-08002B2CF9AE}" pid="4" name="LastSaved">
    <vt:filetime>2025-01-27T00:00:00Z</vt:filetime>
  </property>
</Properties>
</file>