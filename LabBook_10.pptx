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3"/>
  </p:notesMasterIdLst>
  <p:handoutMasterIdLst>
    <p:handoutMasterId r:id="rId24"/>
  </p:handoutMasterIdLst>
  <p:sldIdLst>
    <p:sldId id="256" r:id="rId2"/>
    <p:sldId id="295" r:id="rId3"/>
    <p:sldId id="290" r:id="rId4"/>
    <p:sldId id="292" r:id="rId5"/>
    <p:sldId id="297" r:id="rId6"/>
    <p:sldId id="298" r:id="rId7"/>
    <p:sldId id="299" r:id="rId8"/>
    <p:sldId id="300" r:id="rId9"/>
    <p:sldId id="301" r:id="rId10"/>
    <p:sldId id="302" r:id="rId11"/>
    <p:sldId id="303" r:id="rId12"/>
    <p:sldId id="304" r:id="rId13"/>
    <p:sldId id="305" r:id="rId14"/>
    <p:sldId id="306" r:id="rId15"/>
    <p:sldId id="293" r:id="rId16"/>
    <p:sldId id="307" r:id="rId17"/>
    <p:sldId id="309" r:id="rId18"/>
    <p:sldId id="310" r:id="rId19"/>
    <p:sldId id="311" r:id="rId20"/>
    <p:sldId id="308" r:id="rId21"/>
    <p:sldId id="288" r:id="rId22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243A380-F68D-4B97-8CF0-04FACEB71A64}" v="8" dt="2026-02-16T10:00:04.333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30" autoAdjust="0"/>
    <p:restoredTop sz="95033" autoAdjust="0"/>
  </p:normalViewPr>
  <p:slideViewPr>
    <p:cSldViewPr>
      <p:cViewPr varScale="1">
        <p:scale>
          <a:sx n="83" d="100"/>
          <a:sy n="83" d="100"/>
        </p:scale>
        <p:origin x="811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E6287060-0277-4BCC-9556-78F4A9113EC4}"/>
    <pc:docChg chg="custSel addSld delSld modSld">
      <pc:chgData name="Christian Camilo Cano Vasquez" userId="8c73a2a4-758b-4e34-81ed-39462e48bd92" providerId="ADAL" clId="{E6287060-0277-4BCC-9556-78F4A9113EC4}" dt="2026-02-16T10:00:04.333" v="112"/>
      <pc:docMkLst>
        <pc:docMk/>
      </pc:docMkLst>
      <pc:sldChg chg="addSp delSp modSp mod">
        <pc:chgData name="Christian Camilo Cano Vasquez" userId="8c73a2a4-758b-4e34-81ed-39462e48bd92" providerId="ADAL" clId="{E6287060-0277-4BCC-9556-78F4A9113EC4}" dt="2026-02-16T09:54:36.314" v="109" actId="20577"/>
        <pc:sldMkLst>
          <pc:docMk/>
          <pc:sldMk cId="730501311" sldId="290"/>
        </pc:sldMkLst>
        <pc:spChg chg="add mod">
          <ac:chgData name="Christian Camilo Cano Vasquez" userId="8c73a2a4-758b-4e34-81ed-39462e48bd92" providerId="ADAL" clId="{E6287060-0277-4BCC-9556-78F4A9113EC4}" dt="2026-02-16T09:48:48.742" v="10" actId="1076"/>
          <ac:spMkLst>
            <pc:docMk/>
            <pc:sldMk cId="730501311" sldId="290"/>
            <ac:spMk id="2" creationId="{029F2FF9-FEB4-7AA3-B3B4-EFA9CFA0E230}"/>
          </ac:spMkLst>
        </pc:spChg>
        <pc:spChg chg="add mod">
          <ac:chgData name="Christian Camilo Cano Vasquez" userId="8c73a2a4-758b-4e34-81ed-39462e48bd92" providerId="ADAL" clId="{E6287060-0277-4BCC-9556-78F4A9113EC4}" dt="2026-02-16T09:49:37.395" v="33" actId="20577"/>
          <ac:spMkLst>
            <pc:docMk/>
            <pc:sldMk cId="730501311" sldId="290"/>
            <ac:spMk id="4" creationId="{C2C94B57-6111-4070-F6BA-8C3B9C305618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7" creationId="{F917B3AA-589C-A90A-EE95-EE60C6D04663}"/>
          </ac:spMkLst>
        </pc:spChg>
        <pc:spChg chg="del">
          <ac:chgData name="Christian Camilo Cano Vasquez" userId="8c73a2a4-758b-4e34-81ed-39462e48bd92" providerId="ADAL" clId="{E6287060-0277-4BCC-9556-78F4A9113EC4}" dt="2026-02-16T09:48:32.837" v="5" actId="478"/>
          <ac:spMkLst>
            <pc:docMk/>
            <pc:sldMk cId="730501311" sldId="290"/>
            <ac:spMk id="9" creationId="{793F5757-34AB-6F24-0981-9F1F15A0ADF8}"/>
          </ac:spMkLst>
        </pc:spChg>
        <pc:spChg chg="del">
          <ac:chgData name="Christian Camilo Cano Vasquez" userId="8c73a2a4-758b-4e34-81ed-39462e48bd92" providerId="ADAL" clId="{E6287060-0277-4BCC-9556-78F4A9113EC4}" dt="2026-02-16T09:48:35.096" v="6" actId="478"/>
          <ac:spMkLst>
            <pc:docMk/>
            <pc:sldMk cId="730501311" sldId="290"/>
            <ac:spMk id="11" creationId="{8BD4C233-B5D9-B6AA-93A8-CF2F130CFF9C}"/>
          </ac:spMkLst>
        </pc:spChg>
        <pc:spChg chg="mod">
          <ac:chgData name="Christian Camilo Cano Vasquez" userId="8c73a2a4-758b-4e34-81ed-39462e48bd92" providerId="ADAL" clId="{E6287060-0277-4BCC-9556-78F4A9113EC4}" dt="2026-02-16T09:54:36.314" v="109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4:44.707" v="111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E6287060-0277-4BCC-9556-78F4A9113EC4}" dt="2026-02-16T09:51:39.768" v="80" actId="313"/>
          <ac:spMkLst>
            <pc:docMk/>
            <pc:sldMk cId="2900117438" sldId="292"/>
            <ac:spMk id="2" creationId="{82A62DD6-5488-72A1-9926-0CAEE59089A9}"/>
          </ac:spMkLst>
        </pc:spChg>
        <pc:spChg chg="mod">
          <ac:chgData name="Christian Camilo Cano Vasquez" userId="8c73a2a4-758b-4e34-81ed-39462e48bd92" providerId="ADAL" clId="{E6287060-0277-4BCC-9556-78F4A9113EC4}" dt="2026-02-16T09:54:44.707" v="111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modSp add del mod">
        <pc:chgData name="Christian Camilo Cano Vasquez" userId="8c73a2a4-758b-4e34-81ed-39462e48bd92" providerId="ADAL" clId="{E6287060-0277-4BCC-9556-78F4A9113EC4}" dt="2026-02-16T09:50:51.822" v="37" actId="20577"/>
        <pc:sldMkLst>
          <pc:docMk/>
          <pc:sldMk cId="3660438245" sldId="293"/>
        </pc:sldMkLst>
        <pc:spChg chg="mod">
          <ac:chgData name="Christian Camilo Cano Vasquez" userId="8c73a2a4-758b-4e34-81ed-39462e48bd92" providerId="ADAL" clId="{E6287060-0277-4BCC-9556-78F4A9113EC4}" dt="2026-02-16T09:45:25.127" v="4" actId="115"/>
          <ac:spMkLst>
            <pc:docMk/>
            <pc:sldMk cId="3660438245" sldId="293"/>
            <ac:spMk id="2" creationId="{FDE3A197-9508-F9F1-1FEB-FF883D78C151}"/>
          </ac:spMkLst>
        </pc:spChg>
        <pc:spChg chg="mod">
          <ac:chgData name="Christian Camilo Cano Vasquez" userId="8c73a2a4-758b-4e34-81ed-39462e48bd92" providerId="ADAL" clId="{E6287060-0277-4BCC-9556-78F4A9113EC4}" dt="2026-02-16T09:50:51.822" v="37" actId="20577"/>
          <ac:spMkLst>
            <pc:docMk/>
            <pc:sldMk cId="3660438245" sldId="293"/>
            <ac:spMk id="16" creationId="{742C31CE-19F0-B995-0997-9A2D6A879BF7}"/>
          </ac:spMkLst>
        </pc:spChg>
      </pc:sldChg>
      <pc:sldChg chg="modSp mod">
        <pc:chgData name="Christian Camilo Cano Vasquez" userId="8c73a2a4-758b-4e34-81ed-39462e48bd92" providerId="ADAL" clId="{E6287060-0277-4BCC-9556-78F4A9113EC4}" dt="2026-02-16T10:00:04.333" v="112"/>
        <pc:sldMkLst>
          <pc:docMk/>
          <pc:sldMk cId="473922805" sldId="295"/>
        </pc:sldMkLst>
        <pc:spChg chg="mod">
          <ac:chgData name="Christian Camilo Cano Vasquez" userId="8c73a2a4-758b-4e34-81ed-39462e48bd92" providerId="ADAL" clId="{E6287060-0277-4BCC-9556-78F4A9113EC4}" dt="2026-02-16T10:00:04.333" v="112"/>
          <ac:spMkLst>
            <pc:docMk/>
            <pc:sldMk cId="473922805" sldId="295"/>
            <ac:spMk id="4" creationId="{9F7BC140-B3D8-C3CB-55AD-9064C7CDE9CA}"/>
          </ac:spMkLst>
        </pc:spChg>
      </pc:sldChg>
      <pc:sldChg chg="del">
        <pc:chgData name="Christian Camilo Cano Vasquez" userId="8c73a2a4-758b-4e34-81ed-39462e48bd92" providerId="ADAL" clId="{E6287060-0277-4BCC-9556-78F4A9113EC4}" dt="2026-02-16T09:50:39.931" v="34" actId="47"/>
        <pc:sldMkLst>
          <pc:docMk/>
          <pc:sldMk cId="1245186850" sldId="296"/>
        </pc:sldMkLst>
      </pc:sldChg>
      <pc:sldChg chg="modSp add del">
        <pc:chgData name="Christian Camilo Cano Vasquez" userId="8c73a2a4-758b-4e34-81ed-39462e48bd92" providerId="ADAL" clId="{E6287060-0277-4BCC-9556-78F4A9113EC4}" dt="2026-02-16T09:50:57.288" v="39" actId="20577"/>
        <pc:sldMkLst>
          <pc:docMk/>
          <pc:sldMk cId="236054401" sldId="297"/>
        </pc:sldMkLst>
        <pc:spChg chg="mod">
          <ac:chgData name="Christian Camilo Cano Vasquez" userId="8c73a2a4-758b-4e34-81ed-39462e48bd92" providerId="ADAL" clId="{E6287060-0277-4BCC-9556-78F4A9113EC4}" dt="2026-02-16T09:50:57.288" v="39" actId="20577"/>
          <ac:spMkLst>
            <pc:docMk/>
            <pc:sldMk cId="236054401" sldId="297"/>
            <ac:spMk id="16" creationId="{394400B4-EE16-8E85-AB54-E82FE3B29345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28/02/2026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8525BD-7DE3-EBCC-F3B7-B8561D622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E52B5E-1E00-3A47-7E7E-4D4863476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E55AD7D-913D-B25D-7A41-A3B05D04A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C6F38EE-2322-8BBC-C7CE-84FE2E21FE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989356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B58C8-CAB7-C8AB-CC83-595D3D6DF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3A5EF5A-AF11-2A68-9ABC-ACA76E589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39FCB3-3383-75C8-4948-C3EA7CD1CE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EA78765-2D39-C272-1F08-9F81AD0EED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5252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A4581-7797-447B-8842-9A6B15F8C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CA83DE-9937-842B-C622-7C36624BD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8C9D2A4-E73D-AB77-A220-A3ECFF40CD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1CC59F5-34AD-00BC-43DB-F023D26C5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29298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B55FF-C778-E8C8-EE36-D29035399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0F52381-FA83-A39D-7A77-94514486A9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A6369A-4D10-A442-4BC6-5878B20E0E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B5AFD09-C903-E201-0165-DE1847C3D2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9199913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0A06A-F59E-59B7-FDC8-F5D2B7D30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C10A395-8DEB-5510-1A90-FEBA9FD1B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670531E-E457-C1D3-A0B5-59F40E35A6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82B3746-A6A2-A16D-A2AB-C6BDF21A84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74076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61CA0-A666-87AB-7FBC-2D11F76E6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359E29-8ED2-CB3A-3CDD-69881A908F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27C5315-709B-BB9F-FE89-B47D1C582D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9FE6BB9-E1AD-0FCA-7FD7-0EBAD262F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271163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E29789-DBBE-1F54-D5C7-A8A4A10BD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DFFD6C1-3108-2CC2-A590-E4E80C869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2BCD62-AE7C-C38F-39AF-E8955E6FB9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AC0A3E7-1CAC-011A-B4EC-E2FBA85D1B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400579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EBC0B-8B86-32AE-E25D-AF2B749D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2E0244A-F55A-26D1-ADF4-5EB1EEBA1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8AE108A-39CE-7516-99F1-3EAA72362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305BF7D-E86C-BD3E-33FF-ADE59ED64B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506954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61AC6-3391-EBBB-15F3-52CF04CC0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BBD4C4-BF60-0877-5247-6332206C1E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453BBE7-A9C2-8007-9CE8-A444FA5C5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F63084A-31DF-8BA6-B653-A0AB2F1C74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3364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023B86-D15F-9CD8-C5EA-3EAAD8BAC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73881A-26A5-ECF9-C6F2-3DEFA77AEF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3B7AFC79-4973-3930-959B-AEF8810CFE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345D0F3-6273-0338-FCDA-175B73D7C9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1738271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46A55-A169-D715-4D64-24443AE3F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9187BC9-3CC4-180E-1C42-04C7D4520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6EC5B81-8D1B-B942-F0AC-A1BAB86873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C59D3E0-3409-006A-CF25-28D390727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581414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14F4CF-A52D-6BCA-81BF-9606CD189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26C075C-C8C3-77D4-B4D8-8E635F238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BA50DC8-CAFE-74A4-20FD-ACCC59C0F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4C3599-E016-A34B-9260-48B5A8C0C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163833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33339-923D-7380-9863-2B73460721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A13A8DC-FF50-827D-B136-809A433B03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AF2EAFB-5706-C483-FAA1-8DF9EE1451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10EA8A3-43A6-1DE0-D7E5-0000016146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29202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645BC-A806-9C4D-A95E-6E2E6C2F7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392DDC3-B0FA-766E-56E1-C1DF3FA046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F638E00-2DAD-F2B2-18EB-14AB4D115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17806A0-C6B2-93E9-EBFF-182C7F81CF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4681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2E35B6-4284-DBED-FC96-F0E2EBD85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3DD188-0AEA-EAA8-8B0F-9DEB0537F7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78E6DD-0FCF-60CC-30D3-321C2FDE5D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48BB709-978F-F9A2-2412-15C0BF979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20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378890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1.0.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ccanvas-upv/pic-upv-lab1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70.png"/><Relationship Id="rId7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20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2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8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Relationship Id="rId9" Type="http://schemas.openxmlformats.org/officeDocument/2006/relationships/image" Target="../media/image3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NULL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4.sv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4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60.png"/><Relationship Id="rId4" Type="http://schemas.openxmlformats.org/officeDocument/2006/relationships/image" Target="../media/image4.sv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</a:t>
            </a:r>
            <a:r>
              <a:rPr lang="es-ES" dirty="0" err="1">
                <a:hlinkClick r:id="rId4"/>
              </a:rPr>
              <a:t>cccanvas-upv</a:t>
            </a:r>
            <a:r>
              <a:rPr lang="es-ES">
                <a:hlinkClick r:id="rId4"/>
              </a:rPr>
              <a:t>/pic-upv-lab1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091131" y="4210910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  <a:endParaRPr sz="140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Convergence tests</a:t>
            </a:r>
            <a:br>
              <a:rPr lang="en-US" sz="2500" dirty="0"/>
            </a:br>
            <a:r>
              <a:rPr lang="nl-NL" b="0" dirty="0"/>
              <a:t>DE waveguide, w = 1.2 µm, neff_TE0, wvl 1.55 µm.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067C6D40-33EE-D9BE-7F58-8D96221D0D59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C814CDD6-2B59-8488-4EB8-82801B4D3F22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Cogeremos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20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y 1.5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real del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neff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reducimos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29F2FF9-FEB4-7AA3-B3B4-EFA9CFA0E230}"/>
              </a:ext>
            </a:extLst>
          </p:cNvPr>
          <p:cNvSpPr/>
          <p:nvPr/>
        </p:nvSpPr>
        <p:spPr>
          <a:xfrm>
            <a:off x="6322853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DE709C5-C821-64C7-A117-B2AF8C8D901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806" y="1575314"/>
            <a:ext cx="4379988" cy="3138554"/>
          </a:xfrm>
          <a:prstGeom prst="rect">
            <a:avLst/>
          </a:prstGeom>
        </p:spPr>
      </p:pic>
      <p:pic>
        <p:nvPicPr>
          <p:cNvPr id="11" name="Imagen 10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CA50C33-FDA8-7D48-D49B-9C454D67A9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3795" y="1569783"/>
            <a:ext cx="4350017" cy="31385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 dirty="0"/>
              <a:t>LAB 0.1. MODESOLVER</a:t>
            </a: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Conforme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indice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efectivo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sentido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core. En un primer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momento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TE,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primer modo TM. Contra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ancho,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comienza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TE, y al final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modo TM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está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punto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propagarse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ABC0061E-9441-FD19-70EC-11358BAD05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79777" y="1549823"/>
            <a:ext cx="5432446" cy="31628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394400B4-EE16-8E85-AB54-E82FE3B29345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85A4A-0646-8136-CC64-5591A7422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Waveguide compact model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F6172D6C-2BCE-F04B-210E-42A257F5AD01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791888BC-48CA-F3FF-7B65-6FDF152968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3AB2466-76FA-0126-87B1-5C881961CB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FC88380-4949-B735-5200-7638A2CDAE0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3F8CD031-4977-656C-C698-D277022E6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925F3DDB-1DC8-F60B-88FC-229E773D2BFF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5CB64E13-5A61-5A7E-E992-86FE047F0C99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606F6949-0294-249B-F962-A4A00DB9C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EC528A26-7560-8C92-F883-C08EDFCA98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1169BFB7-D5FA-3032-B1CB-E96DCC13EA3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40051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923DC-0B30-4893-E5E7-3C333FC2C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1707BC50-15B7-C1CE-047D-D079BF514EB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978F9B12-A935-7576-6729-F56DAF54580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93216F80-73BF-31AD-F080-840CE3601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0EE3DD0-CB29-4E51-9518-C2F55DFA85D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407A297-61D7-B65A-C84F-2A408549CE13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8A96A47C-95F2-05DF-CC26-8736DAB101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1754767"/>
            <a:ext cx="4652268" cy="2455462"/>
          </a:xfrm>
          <a:prstGeom prst="rect">
            <a:avLst/>
          </a:prstGeom>
        </p:spPr>
      </p:pic>
      <p:pic>
        <p:nvPicPr>
          <p:cNvPr id="12" name="Imagen 11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12B9F43B-A359-2213-0207-AFCCE07F2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67400" y="1613950"/>
            <a:ext cx="3581400" cy="2575908"/>
          </a:xfrm>
          <a:prstGeom prst="rect">
            <a:avLst/>
          </a:prstGeom>
        </p:spPr>
      </p:pic>
      <p:sp>
        <p:nvSpPr>
          <p:cNvPr id="14" name="CuadroTexto 13">
            <a:extLst>
              <a:ext uri="{FF2B5EF4-FFF2-40B4-BE49-F238E27FC236}">
                <a16:creationId xmlns:a16="http://schemas.microsoft.com/office/drawing/2014/main" id="{DEA3D7E7-3B16-C91E-8615-FA237F783940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17DAAB5D-0B86-21EC-F9E3-E3F132692A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800" y="4777905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9C35D4F-F771-9FA8-3C8E-7D0949B92A54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B8045169-0E1F-FC05-99FF-EF9475F10D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9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222289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BAB10-68A1-99E1-9456-C1E104322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61E96DEB-2E0E-FE4E-61B4-625582671BA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BEF29DA2-0472-0B18-FC7B-75F5D30622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1C5C9A1-8323-18A5-A48C-320FB72E908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A9D8DDF-3839-F520-6427-48A4EF21104F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6D82502-78F9-BFC9-5442-D146B421F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1864803"/>
            <a:ext cx="9088118" cy="276264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02FB20C1-8391-8ABC-A1CA-15A01263C9D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CA3D770-E5AA-B98C-BAF6-195264C5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BCB18073-2694-7EFB-F94E-E7ED32E6B3FD}"/>
              </a:ext>
            </a:extLst>
          </p:cNvPr>
          <p:cNvSpPr txBox="1"/>
          <p:nvPr/>
        </p:nvSpPr>
        <p:spPr>
          <a:xfrm>
            <a:off x="3203766" y="2471214"/>
            <a:ext cx="612832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71115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F7E1A-9A0F-A222-A06F-BEFDA9BD8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67515EB-A24D-5FAD-98A8-50400D40663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363FD700-299C-5934-FBD2-96A492B194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4CA1EF7-1BFF-74C9-702D-FF1E8F59F423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0412FB5-CE29-88A3-F8CF-9DD2433D861F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215D148-D46D-9BB5-3E47-FCBE1C6825B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9D7E62B5-F6B9-8C2A-B75A-4B33F529235E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60AF2A7C-1CCB-B8EC-8C50-8381F89F7C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3483"/>
            <a:ext cx="7796605" cy="362850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F0F4B76-0A7E-0D9D-051E-48BAFA3283D8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5485CC4-86DA-506E-192F-AE0B3BE5C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6E977453-4A00-E98F-8174-0351E089BF3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272" y="1780188"/>
            <a:ext cx="4467733" cy="2451930"/>
          </a:xfrm>
          <a:prstGeom prst="rect">
            <a:avLst/>
          </a:prstGeom>
        </p:spPr>
      </p:pic>
      <p:pic>
        <p:nvPicPr>
          <p:cNvPr id="6" name="Imagen 5" descr="Gráfico, Gráfico de líneas&#10;&#10;El contenido generado por IA puede ser incorrecto.">
            <a:extLst>
              <a:ext uri="{FF2B5EF4-FFF2-40B4-BE49-F238E27FC236}">
                <a16:creationId xmlns:a16="http://schemas.microsoft.com/office/drawing/2014/main" id="{F9353EDC-651C-F6C2-5164-BAC6A5D79D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43600" y="1751496"/>
            <a:ext cx="3727874" cy="268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8472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AE8931-755E-14B5-C4B6-8E066E3BC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Deep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5DCAE974-C8A2-DBD2-1AC5-9FA74611D8D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F83356DF-BFFB-DFC4-83DE-29C5C721C0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B20AE06-F404-EAE4-D52F-955FA1A7DB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3D8A6B-6768-A5F6-3E0E-C1E8F0E7F72D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824B5328-8B45-A6BF-3FFF-9CFAED26BB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2061"/>
            <a:ext cx="9222093" cy="429191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260284A-DEED-4226-EAA3-79BE414FFD50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CA8A6274-F7AD-F0BC-9C5E-21A96D4032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CuadroTexto 5">
            <a:extLst>
              <a:ext uri="{FF2B5EF4-FFF2-40B4-BE49-F238E27FC236}">
                <a16:creationId xmlns:a16="http://schemas.microsoft.com/office/drawing/2014/main" id="{4125680E-B19F-8838-D4DE-E9445573FA2A}"/>
              </a:ext>
            </a:extLst>
          </p:cNvPr>
          <p:cNvSpPr txBox="1"/>
          <p:nvPr/>
        </p:nvSpPr>
        <p:spPr>
          <a:xfrm>
            <a:off x="3203766" y="2471214"/>
            <a:ext cx="612832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/>
              <a:t>El </a:t>
            </a:r>
            <a:r>
              <a:rPr lang="en-US" b="0" dirty="0" err="1"/>
              <a:t>término</a:t>
            </a:r>
            <a:r>
              <a:rPr lang="en-US" b="0" dirty="0"/>
              <a:t> n1 </a:t>
            </a:r>
            <a:r>
              <a:rPr lang="en-US" b="0" dirty="0" err="1"/>
              <a:t>hace</a:t>
            </a:r>
            <a:r>
              <a:rPr lang="en-US" b="0" dirty="0"/>
              <a:t> </a:t>
            </a:r>
            <a:r>
              <a:rPr lang="en-US" b="0" dirty="0" err="1"/>
              <a:t>referencia</a:t>
            </a:r>
            <a:r>
              <a:rPr lang="en-US" b="0" dirty="0"/>
              <a:t> al </a:t>
            </a:r>
            <a:r>
              <a:rPr lang="en-US" b="0" dirty="0" err="1"/>
              <a:t>indice</a:t>
            </a:r>
            <a:r>
              <a:rPr lang="en-US" b="0" dirty="0"/>
              <a:t> </a:t>
            </a:r>
            <a:r>
              <a:rPr lang="en-US" b="0" dirty="0" err="1"/>
              <a:t>efectivo</a:t>
            </a:r>
            <a:r>
              <a:rPr lang="en-US" b="0" dirty="0"/>
              <a:t> de la </a:t>
            </a:r>
            <a:r>
              <a:rPr lang="en-US" b="0" dirty="0" err="1"/>
              <a:t>longiutd</a:t>
            </a:r>
            <a:r>
              <a:rPr lang="en-US" b="0" dirty="0"/>
              <a:t> de </a:t>
            </a:r>
            <a:r>
              <a:rPr lang="en-US" b="0" dirty="0" err="1"/>
              <a:t>onda</a:t>
            </a:r>
            <a:r>
              <a:rPr lang="en-US" b="0" dirty="0"/>
              <a:t> de 1550nm.</a:t>
            </a:r>
          </a:p>
          <a:p>
            <a:r>
              <a:rPr lang="en-US" dirty="0"/>
              <a:t>Por </a:t>
            </a:r>
            <a:r>
              <a:rPr lang="en-US" dirty="0" err="1"/>
              <a:t>otro</a:t>
            </a:r>
            <a:r>
              <a:rPr lang="en-US" dirty="0"/>
              <a:t> </a:t>
            </a:r>
            <a:r>
              <a:rPr lang="en-US" dirty="0" err="1"/>
              <a:t>lado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segundo</a:t>
            </a:r>
            <a:r>
              <a:rPr lang="en-US" dirty="0"/>
              <a:t> </a:t>
            </a:r>
            <a:r>
              <a:rPr lang="en-US" dirty="0" err="1"/>
              <a:t>término</a:t>
            </a:r>
            <a:r>
              <a:rPr lang="en-US" dirty="0"/>
              <a:t> n2, es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nos</a:t>
            </a:r>
            <a:r>
              <a:rPr lang="en-US" dirty="0"/>
              <a:t> dice </a:t>
            </a:r>
            <a:r>
              <a:rPr lang="en-US" dirty="0" err="1"/>
              <a:t>si</a:t>
            </a:r>
            <a:r>
              <a:rPr lang="en-US" dirty="0"/>
              <a:t> varia </a:t>
            </a:r>
            <a:r>
              <a:rPr lang="en-US" dirty="0" err="1"/>
              <a:t>más</a:t>
            </a:r>
            <a:r>
              <a:rPr lang="en-US" dirty="0"/>
              <a:t> o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</a:t>
            </a:r>
            <a:r>
              <a:rPr lang="en-US" dirty="0" err="1"/>
              <a:t>índice</a:t>
            </a:r>
            <a:r>
              <a:rPr lang="en-US" dirty="0"/>
              <a:t> de </a:t>
            </a:r>
            <a:r>
              <a:rPr lang="en-US" dirty="0" err="1"/>
              <a:t>grupo</a:t>
            </a:r>
            <a:r>
              <a:rPr lang="en-US" dirty="0"/>
              <a:t>. En </a:t>
            </a:r>
            <a:r>
              <a:rPr lang="en-US" dirty="0" err="1"/>
              <a:t>este</a:t>
            </a:r>
            <a:r>
              <a:rPr lang="en-US" dirty="0"/>
              <a:t> </a:t>
            </a:r>
            <a:r>
              <a:rPr lang="en-US" dirty="0" err="1"/>
              <a:t>caso</a:t>
            </a:r>
            <a:r>
              <a:rPr lang="en-US" dirty="0"/>
              <a:t> </a:t>
            </a:r>
            <a:r>
              <a:rPr lang="en-US" dirty="0" err="1"/>
              <a:t>menos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el</a:t>
            </a:r>
            <a:r>
              <a:rPr lang="en-US" dirty="0"/>
              <a:t> modo TE.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6837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48DAC2-162A-F646-C573-A364DB79B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B9CBC11C-E1DA-E715-7DC7-8FACC0C24C4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756C3E4-086C-829B-EAC6-B613540B35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23837A0-A520-1EB2-F563-E6A9432BAE4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F8C769D-F68D-43E9-F782-DAC54CEB092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D099588-7455-2EDD-8FC6-CFC6640E7167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9D34ED1-4722-347C-C679-FCDCE13C4414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68D0ADC-6107-BC14-84BF-92E5221E8C0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37298"/>
            <a:ext cx="7796605" cy="355219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E08BA082-153A-62DC-B44E-CEBDE58662DC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41C64620-4CA1-E947-CA0D-7EED60D1F8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97B24C7A-39BD-12AB-3F9E-186D0D42440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7272" y="1814758"/>
            <a:ext cx="4467733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3789503-10FF-2FE5-9C0A-B5459E013369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43600" y="1761310"/>
            <a:ext cx="3727874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711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AC50E-22C6-88C8-7BAE-2D60BED82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TE0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71FC141E-2300-38B0-D8FD-1166BAEA3F12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182EAE19-EB79-1450-21AC-65E9DDF315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13DD4CB-52F5-565D-33DD-C25A6A62DBE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93F60B3-A020-E8A2-33F8-B4D47ADD9C52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7C6B341-5248-47C2-8AA0-B0B45AE351B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56574"/>
            <a:ext cx="9222093" cy="420165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ABB83B6C-9A68-44D1-73CB-2FC1B533818F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65B74E8A-A6EE-D55B-9C14-5D4C2A5BA7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50389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830F9F-F0F5-798D-B6C0-42EC9724C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EF318298-7211-9CE8-9BF6-C2DBDEB39C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06EBCC2E-016A-F48A-C4CE-394B6C76B3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5CF04770-7CCF-B3F7-EB23-9A2D06FAFF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65FEB6A-1148-7CD5-80CA-4B12AE7A2DDA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B063592-51FC-99E1-CC21-47A7E079949E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FE876B93-5A6A-C3BD-29A5-BBD6E95E6395}"/>
              </a:ext>
            </a:extLst>
          </p:cNvPr>
          <p:cNvSpPr txBox="1"/>
          <p:nvPr/>
        </p:nvSpPr>
        <p:spPr>
          <a:xfrm>
            <a:off x="6496859" y="1373320"/>
            <a:ext cx="28032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Second order polynomial </a:t>
            </a:r>
            <a:endParaRPr lang="es-ES" dirty="0"/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9BEA71D9-F533-25DD-2028-E99CDFE8EFF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97697" y="4748234"/>
            <a:ext cx="7796605" cy="333346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B3F0B0EC-6D97-47E5-8879-B3E287ADCC32}"/>
              </a:ext>
            </a:extLst>
          </p:cNvPr>
          <p:cNvSpPr txBox="1"/>
          <p:nvPr/>
        </p:nvSpPr>
        <p:spPr>
          <a:xfrm>
            <a:off x="3581400" y="4424667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/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F8B2BE6D-04DB-71DB-565F-C24EE330B6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7400" y="5151457"/>
                <a:ext cx="6126480" cy="1165640"/>
              </a:xfrm>
              <a:prstGeom prst="rect">
                <a:avLst/>
              </a:prstGeom>
              <a:blipFill>
                <a:blip r:embed="rId7"/>
                <a:stretch>
                  <a:fillRect l="-89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n 3">
            <a:extLst>
              <a:ext uri="{FF2B5EF4-FFF2-40B4-BE49-F238E27FC236}">
                <a16:creationId xmlns:a16="http://schemas.microsoft.com/office/drawing/2014/main" id="{FA1E7852-433A-6129-C7D0-B874B7AA5BFD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80515" y="1814758"/>
            <a:ext cx="4461246" cy="238279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F0A610BF-EAAA-364F-AF1E-9236E3B82CA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91368" y="1761310"/>
            <a:ext cx="3632337" cy="266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186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61A07-B610-CE9F-1A87-66C35F55D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</p:spPr>
            <p:txBody>
              <a:bodyPr vert="horz" wrap="square" lIns="0" tIns="12700" rIns="0" bIns="0" rtlCol="0">
                <a:spAutoFit/>
              </a:bodyPr>
              <a:lstStyle/>
              <a:p>
                <a:pPr marL="12700">
                  <a:lnSpc>
                    <a:spcPct val="100000"/>
                  </a:lnSpc>
                  <a:spcBef>
                    <a:spcPts val="100"/>
                  </a:spcBef>
                </a:pPr>
                <a:r>
                  <a:rPr lang="en-US" sz="2500" dirty="0"/>
                  <a:t>Learning outcome #3 – Shallow Waveguide TM0</a:t>
                </a:r>
                <a:br>
                  <a:rPr lang="en-US" sz="2500" spc="-5" dirty="0">
                    <a:latin typeface="+mj-lt"/>
                    <a:cs typeface="Lucida Sans"/>
                  </a:rPr>
                </a:br>
                <a:r>
                  <a:rPr lang="en-US" b="0" dirty="0"/>
                  <a:t>Let’s model the waveguide using a second order polynomial: </a:t>
                </a:r>
                <a:br>
                  <a:rPr lang="en-US" b="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𝜆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p>
                        <m:sSupPr>
                          <m:ctrlPr>
                            <a:rPr lang="es-E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𝜆</m:t>
                              </m:r>
                              <m:r>
                                <a:rPr lang="es-E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𝜆</m:t>
                                  </m:r>
                                </m:e>
                                <m:sub>
                                  <m:r>
                                    <a:rPr lang="es-E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b="0" dirty="0"/>
                </a:br>
                <a:endParaRPr lang="en-US" sz="2500" b="0" dirty="0">
                  <a:latin typeface="+mj-lt"/>
                  <a:cs typeface="Lucida Sans"/>
                </a:endParaRPr>
              </a:p>
            </p:txBody>
          </p:sp>
        </mc:Choice>
        <mc:Fallback xmlns="">
          <p:sp>
            <p:nvSpPr>
              <p:cNvPr id="16" name="object 16">
                <a:extLst>
                  <a:ext uri="{FF2B5EF4-FFF2-40B4-BE49-F238E27FC236}">
                    <a16:creationId xmlns:a16="http://schemas.microsoft.com/office/drawing/2014/main" id="{C2A53819-2EC8-476E-A414-9C6EEFC40DF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85800" y="408883"/>
                <a:ext cx="10994410" cy="1071255"/>
              </a:xfrm>
              <a:prstGeom prst="rect">
                <a:avLst/>
              </a:prstGeom>
              <a:blipFill>
                <a:blip r:embed="rId3"/>
                <a:stretch>
                  <a:fillRect l="-1664" t="-7386" b="-4545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3" name="Gráfico 82">
            <a:extLst>
              <a:ext uri="{FF2B5EF4-FFF2-40B4-BE49-F238E27FC236}">
                <a16:creationId xmlns:a16="http://schemas.microsoft.com/office/drawing/2014/main" id="{81FDAE66-5D24-B5C2-6314-FA4D0ACA42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78668BA-CB0B-3009-C2C7-174B31ADC9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49A8D63-3B6E-CF84-05F0-403508B2FB84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Imagen 16">
            <a:extLst>
              <a:ext uri="{FF2B5EF4-FFF2-40B4-BE49-F238E27FC236}">
                <a16:creationId xmlns:a16="http://schemas.microsoft.com/office/drawing/2014/main" id="{349CCA99-47ED-E2A6-C0D7-21DBE4AAC3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12903" y="1869510"/>
            <a:ext cx="9222093" cy="394293"/>
          </a:xfrm>
          <a:prstGeom prst="rect">
            <a:avLst/>
          </a:prstGeom>
        </p:spPr>
      </p:pic>
      <p:sp>
        <p:nvSpPr>
          <p:cNvPr id="19" name="CuadroTexto 18">
            <a:extLst>
              <a:ext uri="{FF2B5EF4-FFF2-40B4-BE49-F238E27FC236}">
                <a16:creationId xmlns:a16="http://schemas.microsoft.com/office/drawing/2014/main" id="{9BDB32DB-A4F9-C1C3-B391-0B9831D1099E}"/>
              </a:ext>
            </a:extLst>
          </p:cNvPr>
          <p:cNvSpPr txBox="1"/>
          <p:nvPr/>
        </p:nvSpPr>
        <p:spPr>
          <a:xfrm>
            <a:off x="3429000" y="1511565"/>
            <a:ext cx="7071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n3                           n2                                    n1                    </a:t>
            </a:r>
            <a:endParaRPr lang="es-E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/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800" dirty="0">
                    <a:latin typeface="Arial" panose="020B0604020202020204" pitchFamily="34" charset="0"/>
                    <a:cs typeface="Arial" panose="020B0604020202020204" pitchFamily="34" charset="0"/>
                  </a:rPr>
                  <a:t>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8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8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8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8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dirty="0"/>
              </a:p>
            </p:txBody>
          </p:sp>
        </mc:Choice>
        <mc:Fallback xmlns="">
          <p:sp>
            <p:nvSpPr>
              <p:cNvPr id="21" name="CuadroTexto 20">
                <a:extLst>
                  <a:ext uri="{FF2B5EF4-FFF2-40B4-BE49-F238E27FC236}">
                    <a16:creationId xmlns:a16="http://schemas.microsoft.com/office/drawing/2014/main" id="{3C175E37-4F39-F6F7-B8EB-1C1A16612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9800" y="2295603"/>
                <a:ext cx="2489200" cy="1165640"/>
              </a:xfrm>
              <a:prstGeom prst="rect">
                <a:avLst/>
              </a:prstGeom>
              <a:blipFill>
                <a:blip r:embed="rId7"/>
                <a:stretch>
                  <a:fillRect l="-1956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6481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434E70-43B1-3881-1771-20FB43584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42C31CE-19F0-B995-0997-9A2D6A879B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D688A609-F3DC-EE34-C536-683E70F32E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B6C672C6-89D4-7E67-2B94-811D081786A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AA1F4313-D710-7A3E-7A8F-EB77DEE3C1A7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FDE3A197-9508-F9F1-1FEB-FF883D78C151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/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409FBBBB-69CA-B7E5-7176-8227F2788C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1529" y="4179383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8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ángulo 6">
            <a:extLst>
              <a:ext uri="{FF2B5EF4-FFF2-40B4-BE49-F238E27FC236}">
                <a16:creationId xmlns:a16="http://schemas.microsoft.com/office/drawing/2014/main" id="{B5FE8755-B0BF-14B7-64E6-4BBB2560B9A6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31EBD86-BA6C-68C9-2D38-FC8CFBA7ADC4}"/>
              </a:ext>
            </a:extLst>
          </p:cNvPr>
          <p:cNvSpPr txBox="1"/>
          <p:nvPr/>
        </p:nvSpPr>
        <p:spPr>
          <a:xfrm>
            <a:off x="2978141" y="2784355"/>
            <a:ext cx="62357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dB/90º neff_TE0 &amp; neff_TM0 vs R</a:t>
            </a:r>
          </a:p>
        </p:txBody>
      </p:sp>
    </p:spTree>
    <p:extLst>
      <p:ext uri="{BB962C8B-B14F-4D97-AF65-F5344CB8AC3E}">
        <p14:creationId xmlns:p14="http://schemas.microsoft.com/office/powerpoint/2010/main" val="36604382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7D6D-2EBE-651B-2992-9CC80B91A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F9360EC7-2A4C-370F-AFFD-6EC982E756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0AEE972-BE8E-0B11-C490-37B31ECF76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8AFC1A94-45E6-31C6-9BFE-D4E98E0BABE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C0BE0B43-EDD5-4E37-5634-C1C70538F9D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 descr="Gráfico&#10;&#10;El contenido generado por IA puede ser incorrecto.">
            <a:extLst>
              <a:ext uri="{FF2B5EF4-FFF2-40B4-BE49-F238E27FC236}">
                <a16:creationId xmlns:a16="http://schemas.microsoft.com/office/drawing/2014/main" id="{0C74F35B-D191-A462-AD7B-124F13DE9A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98925"/>
            <a:ext cx="5257800" cy="3809425"/>
          </a:xfrm>
          <a:prstGeom prst="rect">
            <a:avLst/>
          </a:prstGeom>
        </p:spPr>
      </p:pic>
      <p:pic>
        <p:nvPicPr>
          <p:cNvPr id="10" name="Imagen 9" descr="Gráfico&#10;&#10;El contenido generado por IA puede ser incorrecto.">
            <a:extLst>
              <a:ext uri="{FF2B5EF4-FFF2-40B4-BE49-F238E27FC236}">
                <a16:creationId xmlns:a16="http://schemas.microsoft.com/office/drawing/2014/main" id="{9095F3D9-170F-6EF9-D214-12DF46EACC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384" y="1395441"/>
            <a:ext cx="5398826" cy="401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081638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2B1FB-6397-1786-967D-D05B87550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7F1B2CCE-FBE8-6A14-5158-558470B8F14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TE0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6295097-5941-C4E4-9F5B-CCE1C3DF34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AD36091F-C426-AD9E-FED8-7429DDADFD5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3D91341-E731-128B-74C3-54F2A39713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447E68-F4D6-DEC1-3C17-60C8A376030E}"/>
              </a:ext>
            </a:extLst>
          </p:cNvPr>
          <p:cNvSpPr txBox="1"/>
          <p:nvPr/>
        </p:nvSpPr>
        <p:spPr>
          <a:xfrm>
            <a:off x="616527" y="1295400"/>
            <a:ext cx="11199971" cy="646331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comportamiento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suma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considerando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debajo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0.1 dB,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podríamos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considerer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un radio de 30um, 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siendo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rango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donde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temenos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mínimo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alrededor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70um.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Imagen 6" descr="Gráfico&#10;&#10;El contenido generado por IA puede ser incorrecto.">
            <a:extLst>
              <a:ext uri="{FF2B5EF4-FFF2-40B4-BE49-F238E27FC236}">
                <a16:creationId xmlns:a16="http://schemas.microsoft.com/office/drawing/2014/main" id="{48E19186-2A83-1A13-0204-F37C769191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913" y="2289971"/>
            <a:ext cx="5243869" cy="3474138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FA2C9798-8010-F51E-CE0C-365672D686AF}"/>
              </a:ext>
            </a:extLst>
          </p:cNvPr>
          <p:cNvSpPr txBox="1"/>
          <p:nvPr/>
        </p:nvSpPr>
        <p:spPr>
          <a:xfrm>
            <a:off x="2121467" y="2265347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Modo TE0 R=20um</a:t>
            </a:r>
            <a:endParaRPr lang="es-ES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693CED9B-58E1-36F7-65B7-1F8AB73C12B5}"/>
              </a:ext>
            </a:extLst>
          </p:cNvPr>
          <p:cNvSpPr txBox="1"/>
          <p:nvPr/>
        </p:nvSpPr>
        <p:spPr>
          <a:xfrm>
            <a:off x="6324600" y="3604700"/>
            <a:ext cx="61283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Ver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TE0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nos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ayudará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ver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diferencia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 modo TM0 </a:t>
            </a:r>
            <a:r>
              <a:rPr lang="en-US" sz="1800" dirty="0" err="1">
                <a:latin typeface="Arial" panose="020B0604020202020204" pitchFamily="34" charset="0"/>
                <a:cs typeface="Arial" panose="020B0604020202020204" pitchFamily="34" charset="0"/>
              </a:rPr>
              <a:t>posteriormente</a:t>
            </a:r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636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6AD69-DAA6-1AE7-7C01-C97649BDE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9FA2370A-9A9A-4596-5161-98C6B4CDB7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7205C76C-88BE-EE3D-195B-12EA1CBED3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95DBDDE-C345-D554-D67A-9048961F6A7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FEADF6-E2E5-0608-C9C5-8D5C152A9E6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8C54D18-4AC4-0FA5-57CE-4DB3FA055B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5892" y="2568515"/>
            <a:ext cx="4847338" cy="3809425"/>
          </a:xfrm>
          <a:prstGeom prst="rect">
            <a:avLst/>
          </a:prstGeom>
        </p:spPr>
      </p:pic>
      <p:pic>
        <p:nvPicPr>
          <p:cNvPr id="4" name="Imagen 3" descr="Gráfico, Diagrama, Gráfico de líneas&#10;&#10;El contenido generado por IA puede ser incorrecto.">
            <a:extLst>
              <a:ext uri="{FF2B5EF4-FFF2-40B4-BE49-F238E27FC236}">
                <a16:creationId xmlns:a16="http://schemas.microsoft.com/office/drawing/2014/main" id="{A101538B-B92D-6F7D-6D06-FE195DAB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2464956"/>
            <a:ext cx="4847338" cy="3880160"/>
          </a:xfrm>
          <a:prstGeom prst="rect">
            <a:avLst/>
          </a:prstGeom>
        </p:spPr>
      </p:pic>
      <p:pic>
        <p:nvPicPr>
          <p:cNvPr id="6" name="Imagen 5" descr="Texto&#10;&#10;El contenido generado por IA puede ser incorrecto.">
            <a:extLst>
              <a:ext uri="{FF2B5EF4-FFF2-40B4-BE49-F238E27FC236}">
                <a16:creationId xmlns:a16="http://schemas.microsoft.com/office/drawing/2014/main" id="{FF17D9B7-D0E3-5FC2-BDA3-AF40C62C9C4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419" y="1193846"/>
            <a:ext cx="5633926" cy="1231551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EE876D79-D3B0-58DA-5E27-08C139CC9648}"/>
              </a:ext>
            </a:extLst>
          </p:cNvPr>
          <p:cNvSpPr txBox="1"/>
          <p:nvPr/>
        </p:nvSpPr>
        <p:spPr>
          <a:xfrm>
            <a:off x="6477000" y="1538484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 err="1"/>
              <a:t>Corresponde</a:t>
            </a:r>
            <a:r>
              <a:rPr lang="en-US" b="0" dirty="0"/>
              <a:t> </a:t>
            </a:r>
            <a:r>
              <a:rPr lang="en-US" b="0" dirty="0" err="1"/>
              <a:t>en</a:t>
            </a:r>
            <a:r>
              <a:rPr lang="en-US" b="0" dirty="0"/>
              <a:t> </a:t>
            </a:r>
            <a:r>
              <a:rPr lang="en-US" b="0" dirty="0" err="1"/>
              <a:t>este</a:t>
            </a:r>
            <a:r>
              <a:rPr lang="en-US" b="0" dirty="0"/>
              <a:t> </a:t>
            </a:r>
            <a:r>
              <a:rPr lang="en-US" b="0" dirty="0" err="1"/>
              <a:t>caso</a:t>
            </a:r>
            <a:r>
              <a:rPr lang="en-US" b="0" dirty="0"/>
              <a:t> con </a:t>
            </a:r>
            <a:r>
              <a:rPr lang="en-US" b="0" dirty="0" err="1"/>
              <a:t>el</a:t>
            </a:r>
            <a:r>
              <a:rPr lang="en-US" b="0" dirty="0"/>
              <a:t> modo 3.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643018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F3506-6AAB-A14F-5B0C-B74354FB7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3B02D9A-B9AD-8C59-7850-21411CD18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6E9B8864-539D-97A4-C4E2-7C6873F66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D4C4061-65D4-91CE-658C-458E9ED5F3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19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4770F89-FD98-3271-18E6-43E028CDE50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0819B592-63DD-65D9-F4D3-5DEC11A49960}"/>
              </a:ext>
            </a:extLst>
          </p:cNvPr>
          <p:cNvSpPr txBox="1"/>
          <p:nvPr/>
        </p:nvSpPr>
        <p:spPr>
          <a:xfrm>
            <a:off x="616527" y="1295400"/>
            <a:ext cx="11199971" cy="46166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El modo TM0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viaja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mucho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por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cubierta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intensidad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incluso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un radio de 20um,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campo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Tebemos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tantas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modo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insignificantes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comparación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  </a:t>
            </a:r>
          </a:p>
        </p:txBody>
      </p:sp>
      <p:pic>
        <p:nvPicPr>
          <p:cNvPr id="7" name="Imagen 6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CADE9EB3-13C5-3352-D066-DDBA4B77D5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99" y="2133600"/>
            <a:ext cx="4501989" cy="2967336"/>
          </a:xfrm>
          <a:prstGeom prst="rect">
            <a:avLst/>
          </a:prstGeom>
        </p:spPr>
      </p:pic>
      <p:sp>
        <p:nvSpPr>
          <p:cNvPr id="9" name="CuadroTexto 8">
            <a:extLst>
              <a:ext uri="{FF2B5EF4-FFF2-40B4-BE49-F238E27FC236}">
                <a16:creationId xmlns:a16="http://schemas.microsoft.com/office/drawing/2014/main" id="{48E64348-C561-1036-A9C7-9BC68C0578FE}"/>
              </a:ext>
            </a:extLst>
          </p:cNvPr>
          <p:cNvSpPr txBox="1"/>
          <p:nvPr/>
        </p:nvSpPr>
        <p:spPr>
          <a:xfrm>
            <a:off x="1360058" y="2116027"/>
            <a:ext cx="61283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latin typeface="Arial" panose="020B0604020202020204" pitchFamily="34" charset="0"/>
                <a:cs typeface="Arial" panose="020B0604020202020204" pitchFamily="34" charset="0"/>
              </a:rPr>
              <a:t>Modo TM0 R=20um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352660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03B0F-7F51-D93D-B46C-FF6BA28BF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04E12D16-E2C0-909A-175D-2349C637914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Bend waveguide radius vs. loss – deep TM0</a:t>
            </a:r>
            <a:br>
              <a:rPr lang="en-US" sz="2500" dirty="0"/>
            </a:br>
            <a:r>
              <a:rPr lang="en-US" b="0" dirty="0"/>
              <a:t>Find  neff_TE0 for </a:t>
            </a:r>
            <a:r>
              <a:rPr lang="en-US" b="0" dirty="0" err="1"/>
              <a:t>wvl</a:t>
            </a:r>
            <a:r>
              <a:rPr lang="en-US" b="0" dirty="0"/>
              <a:t> 1.55 µm, width 1.0 µm for R=25,50,75,100, 125,150 µm</a:t>
            </a:r>
            <a:br>
              <a:rPr lang="en-US" sz="250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8964EE9-3EDF-E114-DC15-0992BF2743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DC855AD6-5910-076F-A48D-906BEFCF4791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9C0F88D-38F0-86A7-ADAE-71FEDB9DF31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1.0.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6D19B95-3645-4E84-D961-65670FC3E5F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results, which is the safe radius, consider safe means less than 0.1 dB/90º.</a:t>
            </a:r>
          </a:p>
          <a:p>
            <a:pPr algn="just"/>
            <a:endParaRPr lang="en-US" sz="1200" u="sng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5941928-F5C1-1E8E-94AE-FCD9BD134D79}"/>
                  </a:ext>
                </a:extLst>
              </p:cNvPr>
              <p:cNvSpPr txBox="1"/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b="0" i="1" smtClean="0">
                                <a:latin typeface="Cambria Math" panose="02040503050406030204" pitchFamily="18" charset="0"/>
                              </a:rPr>
                              <m:t>90</m:t>
                            </m:r>
                            <m:r>
                              <a:rPr lang="es-E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den>
                        </m:f>
                      </m:e>
                    </m:d>
                    <m:r>
                      <a:rPr lang="es-ES" sz="18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s-ES" sz="1800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s-ES" sz="1800" b="0" i="0" smtClean="0">
                        <a:latin typeface="Cambria Math" panose="02040503050406030204" pitchFamily="18" charset="0"/>
                      </a:rPr>
                      <m:t>R</m:t>
                    </m:r>
                    <m:f>
                      <m:fPr>
                        <m:ctrlPr>
                          <a:rPr lang="es-ES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es-E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s-ES" sz="1800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begChr m:val="["/>
                        <m:endChr m:val="]"/>
                        <m:ctrlPr>
                          <a:rPr lang="es-ES" sz="1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1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𝑑𝐵</m:t>
                            </m:r>
                          </m:num>
                          <m:den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µ</m:t>
                            </m:r>
                            <m:r>
                              <a:rPr lang="es-ES" sz="18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den>
                        </m:f>
                      </m:e>
                    </m:d>
                  </m:oMath>
                </a14:m>
                <a:endParaRPr lang="en-US" sz="1800" dirty="0"/>
              </a:p>
            </p:txBody>
          </p:sp>
        </mc:Choice>
        <mc:Fallback xmlns="">
          <p:sp>
            <p:nvSpPr>
              <p:cNvPr id="6" name="CuadroTexto 5">
                <a:extLst>
                  <a:ext uri="{FF2B5EF4-FFF2-40B4-BE49-F238E27FC236}">
                    <a16:creationId xmlns:a16="http://schemas.microsoft.com/office/drawing/2014/main" id="{C5941928-F5C1-1E8E-94AE-FCD9BD134D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7883" y="3848100"/>
                <a:ext cx="1856534" cy="439608"/>
              </a:xfrm>
              <a:prstGeom prst="rect">
                <a:avLst/>
              </a:prstGeom>
              <a:blipFill>
                <a:blip r:embed="rId5"/>
                <a:stretch>
                  <a:fillRect l="-3279" b="-1388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Imagen 6" descr="Texto&#10;&#10;El contenido generado por IA puede ser incorrecto.">
            <a:extLst>
              <a:ext uri="{FF2B5EF4-FFF2-40B4-BE49-F238E27FC236}">
                <a16:creationId xmlns:a16="http://schemas.microsoft.com/office/drawing/2014/main" id="{606E7E47-39DC-EA74-1A63-67FCA1B8F3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18" y="1794319"/>
            <a:ext cx="9631119" cy="2105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0803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21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2161</TotalTime>
  <Words>1366</Words>
  <Application>Microsoft Office PowerPoint</Application>
  <PresentationFormat>Panorámica</PresentationFormat>
  <Paragraphs>182</Paragraphs>
  <Slides>21</Slides>
  <Notes>18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9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Convergence tests DE waveguide, w = 1.2 µm, neff_TE0, wvl 1.55 µm. </vt:lpstr>
      <vt:lpstr>Learning outcome #2 – Width dependence Width 0.6 - 1.6 µm (step 0.1 µm) – Wavelength 1.55 µm </vt:lpstr>
      <vt:lpstr>Learning outcome #3 – Waveguide compact model Let’s model the waveguide using a second order polynomial:  n_eff (λ)=n_1+n_2 (λ-λ_0 )+n_3 (λ-λ_0 )^2 </vt:lpstr>
      <vt:lpstr>Learning outcome #3 – Waveguide compact model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TE0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Deep Waveguide TM0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TE0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#3 – Shallow Waveguide TM0 Let’s model the waveguide using a second order polynomial:  n_eff (λ)=n_1+n_2 (λ-λ_0 )+n_3 (λ-λ_0 )^2 </vt:lpstr>
      <vt:lpstr>Learning outcome #4 – Bend waveguide radius vs. loss – deep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Learning outcome #4 – Bend waveguide radius vs. loss – deep TE0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Learning outcome #4 – Bend waveguide radius vs. loss – deep TM0 Find  neff_TE0 for wvl 1.55 µm, width 1.0 µm for R=25,50,75,100, 125,150 µm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Roberto José Fernández Sevilla</cp:lastModifiedBy>
  <cp:revision>15</cp:revision>
  <dcterms:created xsi:type="dcterms:W3CDTF">2025-01-27T02:46:57Z</dcterms:created>
  <dcterms:modified xsi:type="dcterms:W3CDTF">2026-02-28T18:57:48Z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